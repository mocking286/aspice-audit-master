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2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1451-A910-3638-4FB2-27416253A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0565F-774C-7960-2255-F686467A1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A5DFE-ACE6-ADEC-4908-C18A8E88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A3A1-AE15-4CB5-8FF1-0A2C974532AB}" type="datetimeFigureOut">
              <a:rPr lang="en-US" smtClean="0"/>
              <a:t>2026/07/22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D9ACE-E00B-D0B7-F8E0-14EC5B3C5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B0854-DDC0-32BB-1301-255E8B54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C05-B533-4127-A777-3A21E917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79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0702-DA8E-2B7A-1842-09BE01B78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2067-542D-34F0-AE7E-7E2CC9BCC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175F7-2614-03FC-F763-C7D193CD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A3A1-AE15-4CB5-8FF1-0A2C974532AB}" type="datetimeFigureOut">
              <a:rPr lang="en-US" smtClean="0"/>
              <a:t>2026/07/22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D23D3-2FEF-AB39-8A34-C916458C6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E1C79-59B9-7570-0E75-ABCBFAD5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C05-B533-4127-A777-3A21E917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94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6267-57E8-23E7-5A8D-4EC6EA456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BA500-FFD0-D5BA-6E36-B077E1F63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57B7A-2490-9F0F-6CA1-7D8111CB3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A3A1-AE15-4CB5-8FF1-0A2C974532AB}" type="datetimeFigureOut">
              <a:rPr lang="en-US" smtClean="0"/>
              <a:t>2026/07/22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624ED-B0EB-1D6E-16FA-BB2FA8CBB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748EA-33ED-15EA-EC9D-4937E1C4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C05-B533-4127-A777-3A21E917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320C-113E-5085-1ADF-CEE5B6CD9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79D6A-777B-394B-3C0E-285912412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D308C-C776-3721-7D33-7348F36A7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8833B-7885-B8BF-EB80-F00E03725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A3A1-AE15-4CB5-8FF1-0A2C974532AB}" type="datetimeFigureOut">
              <a:rPr lang="en-US" smtClean="0"/>
              <a:t>2026/07/22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91F2E-8499-CFE1-47D0-CFB447BDA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ABA68-839B-EC09-F2B9-888E9B88B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C05-B533-4127-A777-3A21E917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9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9F82A-9A58-A433-0451-A391FBB2E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6F2D4-A3F3-5B82-B469-E30B7DCDA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A2876-2200-B43E-04E5-AEF809F54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0EEC14-5696-00BC-3A20-B629B5D3D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105657-ABBC-8E65-86AD-E147A4D567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20110-2413-3F99-7163-E71F06B4A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A3A1-AE15-4CB5-8FF1-0A2C974532AB}" type="datetimeFigureOut">
              <a:rPr lang="en-US" smtClean="0"/>
              <a:t>2026/07/22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850B04-DDAD-8B03-27FA-F04320310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1C9B3D-4F03-69E3-AFD6-23CFF98C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C05-B533-4127-A777-3A21E917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0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86CA-6A22-32E4-9FBC-0FA5D4D93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30C2A-C210-2BF5-9776-6B8F62D24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A3A1-AE15-4CB5-8FF1-0A2C974532AB}" type="datetimeFigureOut">
              <a:rPr lang="en-US" smtClean="0"/>
              <a:t>2026/07/22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6265C-8B43-2FFB-B464-9DDFE2F3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D3301-2637-3EC6-354F-8E83B850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C05-B533-4127-A777-3A21E917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11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0190F-8760-8DAE-9638-D42F51CD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A3A1-AE15-4CB5-8FF1-0A2C974532AB}" type="datetimeFigureOut">
              <a:rPr lang="en-US" smtClean="0"/>
              <a:t>2026/07/22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FA09C-8D10-0DCB-625B-E3EEEA37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E14A3-3B2E-A063-BE28-A0B19334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C05-B533-4127-A777-3A21E917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83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85E8-67E3-A9D4-604F-9E599B4D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1D96D-8C48-2822-5F3D-552069E35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90655-87D4-6CAC-47A6-882306E76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4CDC4-DFC7-24BF-1AE8-6755042B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A3A1-AE15-4CB5-8FF1-0A2C974532AB}" type="datetimeFigureOut">
              <a:rPr lang="en-US" smtClean="0"/>
              <a:t>2026/07/22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33B24-189C-B8EB-DB06-CCFB61300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E5553-B8D6-0962-8F02-71B4CBEFA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C05-B533-4127-A777-3A21E917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5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179D-B86C-54F9-2454-DA793D507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1E4801-2CF6-58CE-34D5-0080242739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7E53E-6E9D-EA7D-1C3D-9F1992AA4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E2293-95D8-9D91-36B3-A645FDEC5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A3A1-AE15-4CB5-8FF1-0A2C974532AB}" type="datetimeFigureOut">
              <a:rPr lang="en-US" smtClean="0"/>
              <a:t>2026/07/22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BC707-A986-ECAC-9B13-FCDF61CB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6F942-F539-5B7D-F99D-7BC33DCDD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C05-B533-4127-A777-3A21E917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8A7E8-4728-E6D4-EBD4-4291EAB1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ABB2F-C277-B679-7DC7-7602F99D3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12A90-DCF4-01F5-9C63-A56607B7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A3A1-AE15-4CB5-8FF1-0A2C974532AB}" type="datetimeFigureOut">
              <a:rPr lang="en-US" smtClean="0"/>
              <a:t>2026/07/22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AEC76-00D5-DF8F-FDAB-D2F38BDE5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6421C-BE6C-79E7-65D5-15EBB332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C05-B533-4127-A777-3A21E917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96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2119C-F193-924B-891E-62F70B71D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C4D58-DFFD-CC12-13DE-1AF3A79FF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E6057-7679-8981-FE1E-F8DDF4C54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A3A1-AE15-4CB5-8FF1-0A2C974532AB}" type="datetimeFigureOut">
              <a:rPr lang="en-US" smtClean="0"/>
              <a:t>2026/07/22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177D2-8372-3452-AEF7-1DDC68467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84448-01B5-23D1-4050-C416D809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1C05-B533-4127-A777-3A21E917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0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64C66-2AE4-1A7C-B4B6-73E18C503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77948-03A7-57D3-3794-0E0B69B63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2CD7A-BAB3-E0FE-6101-03541516A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BA3A1-AE15-4CB5-8FF1-0A2C974532AB}" type="datetimeFigureOut">
              <a:rPr lang="en-US" smtClean="0"/>
              <a:t>2026/07/22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2DEB9-3E07-E983-DDA9-E35C9F4DC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41562-F819-B285-8B3A-AF1827E20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01C05-B533-4127-A777-3A21E917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0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0F2836-1F7E-D6C4-872D-6D41F2D573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CBD616-1DAA-0D0A-B0B0-DDAEAEDEE2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6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A60F98-84F5-CBCF-C3D9-8C0D24FF084C}"/>
              </a:ext>
            </a:extLst>
          </p:cNvPr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E059A-1252-CB5D-0C55-D0BF0144D2E1}"/>
              </a:ext>
            </a:extLst>
          </p:cNvPr>
          <p:cNvSpPr txBox="1"/>
          <p:nvPr/>
        </p:nvSpPr>
        <p:spPr>
          <a:xfrm>
            <a:off x="736600" y="838200"/>
            <a:ext cx="9652000" cy="6360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38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ASPICE-AUDIT-MASTER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3692D-A514-07D6-3E58-EE0296AC6267}"/>
              </a:ext>
            </a:extLst>
          </p:cNvPr>
          <p:cNvSpPr txBox="1"/>
          <p:nvPr/>
        </p:nvSpPr>
        <p:spPr>
          <a:xfrm>
            <a:off x="787400" y="1676400"/>
            <a:ext cx="9652000" cy="328295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>
                <a:solidFill>
                  <a:srgbClr val="CBD5E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Helix-linked AI Review Workbench for ASPICE 4.0 Evidence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B98A3-5652-8C88-C99F-45723596624F}"/>
              </a:ext>
            </a:extLst>
          </p:cNvPr>
          <p:cNvSpPr txBox="1"/>
          <p:nvPr/>
        </p:nvSpPr>
        <p:spPr>
          <a:xfrm>
            <a:off x="787400" y="2387600"/>
            <a:ext cx="9652000" cy="6360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900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把本地文档、</a:t>
            </a:r>
            <a:r>
              <a:rPr lang="en-US" altLang="zh-CN" sz="1900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ALM </a:t>
            </a:r>
            <a:r>
              <a:rPr lang="zh-CN" altLang="en-US" sz="1900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项目数据、过程域范围锁定和 </a:t>
            </a:r>
            <a:r>
              <a:rPr lang="en-US" altLang="zh-CN" sz="1900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zh-CN" altLang="en-US" sz="1900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结构化审核合并到一个 </a:t>
            </a:r>
            <a:r>
              <a:rPr lang="en-US" altLang="zh-CN" sz="1900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Edge </a:t>
            </a:r>
            <a:r>
              <a:rPr lang="zh-CN" altLang="en-US" sz="1900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插件工作流中。</a:t>
            </a:r>
            <a:endParaRPr lang="en-US" sz="1900">
              <a:solidFill>
                <a:srgbClr val="FFFFFF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AE963F-8874-4138-CBCD-665433AB299F}"/>
              </a:ext>
            </a:extLst>
          </p:cNvPr>
          <p:cNvSpPr/>
          <p:nvPr/>
        </p:nvSpPr>
        <p:spPr>
          <a:xfrm>
            <a:off x="787400" y="3276600"/>
            <a:ext cx="2387600" cy="304800"/>
          </a:xfrm>
          <a:prstGeom prst="round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510B32-3291-4253-88EC-FF298461A49A}"/>
              </a:ext>
            </a:extLst>
          </p:cNvPr>
          <p:cNvSpPr txBox="1"/>
          <p:nvPr/>
        </p:nvSpPr>
        <p:spPr>
          <a:xfrm>
            <a:off x="889000" y="3340100"/>
            <a:ext cx="21844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800" b="1">
                <a:solidFill>
                  <a:srgbClr val="1F5BA6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Edge </a:t>
            </a:r>
            <a:r>
              <a:rPr lang="ja-JP" altLang="en-US" sz="800" b="1">
                <a:solidFill>
                  <a:srgbClr val="1F5BA6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插件</a:t>
            </a:r>
            <a:endParaRPr lang="en-US" sz="800" b="1">
              <a:solidFill>
                <a:srgbClr val="1F5BA6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C9D20F-1766-5311-CB1F-5A9003AEFE49}"/>
              </a:ext>
            </a:extLst>
          </p:cNvPr>
          <p:cNvSpPr/>
          <p:nvPr/>
        </p:nvSpPr>
        <p:spPr>
          <a:xfrm>
            <a:off x="3429000" y="3276600"/>
            <a:ext cx="2387600" cy="304800"/>
          </a:xfrm>
          <a:prstGeom prst="roundRect">
            <a:avLst/>
          </a:prstGeom>
          <a:solidFill>
            <a:srgbClr val="DCFC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2E685B-09B6-EE9B-611B-F4BD50DFA38C}"/>
              </a:ext>
            </a:extLst>
          </p:cNvPr>
          <p:cNvSpPr txBox="1"/>
          <p:nvPr/>
        </p:nvSpPr>
        <p:spPr>
          <a:xfrm>
            <a:off x="3530600" y="3340100"/>
            <a:ext cx="21844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800" b="1">
                <a:solidFill>
                  <a:srgbClr val="196B2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ALM REST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113803-580C-E014-C66F-574981459CCA}"/>
              </a:ext>
            </a:extLst>
          </p:cNvPr>
          <p:cNvSpPr/>
          <p:nvPr/>
        </p:nvSpPr>
        <p:spPr>
          <a:xfrm>
            <a:off x="6070600" y="3276600"/>
            <a:ext cx="2387600" cy="304800"/>
          </a:xfrm>
          <a:prstGeom prst="roundRect">
            <a:avLst/>
          </a:prstGeom>
          <a:solidFill>
            <a:srgbClr val="FFED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379B6B-E96E-1572-6580-E7E724C6FB2F}"/>
              </a:ext>
            </a:extLst>
          </p:cNvPr>
          <p:cNvSpPr txBox="1"/>
          <p:nvPr/>
        </p:nvSpPr>
        <p:spPr>
          <a:xfrm>
            <a:off x="6172200" y="3340100"/>
            <a:ext cx="21844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800" b="1">
                <a:solidFill>
                  <a:srgbClr val="E971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ja-JP" altLang="en-US" sz="800" b="1">
                <a:solidFill>
                  <a:srgbClr val="E9713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建议页</a:t>
            </a:r>
            <a:endParaRPr lang="en-US" sz="800" b="1">
              <a:solidFill>
                <a:srgbClr val="E97132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91606AD-36E4-0DF7-D0DE-10316C72D0C9}"/>
              </a:ext>
            </a:extLst>
          </p:cNvPr>
          <p:cNvSpPr/>
          <p:nvPr/>
        </p:nvSpPr>
        <p:spPr>
          <a:xfrm>
            <a:off x="8712200" y="3276600"/>
            <a:ext cx="2387600" cy="304800"/>
          </a:xfrm>
          <a:prstGeom prst="roundRect">
            <a:avLst/>
          </a:prstGeom>
          <a:solidFill>
            <a:srgbClr val="E0F2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E8D97E-DEB4-3E8D-49B0-071252E34680}"/>
              </a:ext>
            </a:extLst>
          </p:cNvPr>
          <p:cNvSpPr txBox="1"/>
          <p:nvPr/>
        </p:nvSpPr>
        <p:spPr>
          <a:xfrm>
            <a:off x="8813800" y="3340100"/>
            <a:ext cx="21844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15608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正式 </a:t>
            </a:r>
            <a:r>
              <a:rPr lang="en-US" sz="800" b="1">
                <a:solidFill>
                  <a:srgbClr val="15608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PDF </a:t>
            </a:r>
            <a:r>
              <a:rPr lang="ja-JP" altLang="en-US" sz="800" b="1">
                <a:solidFill>
                  <a:srgbClr val="156082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输出</a:t>
            </a:r>
            <a:endParaRPr lang="en-US" sz="800" b="1">
              <a:solidFill>
                <a:srgbClr val="156082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7F7A33-88DC-FB89-85BB-D5D8837F7055}"/>
              </a:ext>
            </a:extLst>
          </p:cNvPr>
          <p:cNvSpPr txBox="1"/>
          <p:nvPr/>
        </p:nvSpPr>
        <p:spPr>
          <a:xfrm>
            <a:off x="787400" y="4419600"/>
            <a:ext cx="96520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500" b="1">
                <a:solidFill>
                  <a:srgbClr val="E2E8F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2026-07-22 | </a:t>
            </a:r>
            <a:r>
              <a:rPr lang="zh-CN" altLang="en-US" sz="1500" b="1">
                <a:solidFill>
                  <a:srgbClr val="E2E8F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最新 </a:t>
            </a:r>
            <a:r>
              <a:rPr lang="en-US" altLang="zh-CN" sz="1500" b="1">
                <a:solidFill>
                  <a:srgbClr val="E2E8F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zh-CN" altLang="en-US" sz="1500" b="1">
                <a:solidFill>
                  <a:srgbClr val="E2E8F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联动升级版</a:t>
            </a:r>
            <a:endParaRPr lang="en-US" sz="1500" b="1">
              <a:solidFill>
                <a:srgbClr val="E2E8F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963AA7-2F5A-5A22-9D2F-B90CF73AF88C}"/>
              </a:ext>
            </a:extLst>
          </p:cNvPr>
          <p:cNvSpPr txBox="1"/>
          <p:nvPr/>
        </p:nvSpPr>
        <p:spPr>
          <a:xfrm>
            <a:off x="787400" y="6413500"/>
            <a:ext cx="55880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94A3B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Reference style: previous aspice-audit-master deck + Stanley team project report template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85451F-0E7E-BA86-11B7-4239CB4ADCC3}"/>
              </a:ext>
            </a:extLst>
          </p:cNvPr>
          <p:cNvSpPr txBox="1"/>
          <p:nvPr/>
        </p:nvSpPr>
        <p:spPr>
          <a:xfrm>
            <a:off x="10210800" y="6413500"/>
            <a:ext cx="12192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94A3B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Page 1 / 10</a:t>
            </a:r>
          </a:p>
        </p:txBody>
      </p:sp>
    </p:spTree>
    <p:extLst>
      <p:ext uri="{BB962C8B-B14F-4D97-AF65-F5344CB8AC3E}">
        <p14:creationId xmlns:p14="http://schemas.microsoft.com/office/powerpoint/2010/main" val="2074695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837FBF-27CE-8B7B-E773-D23396F1779C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F7413D-2E48-1E5F-BD23-9276329D02BB}"/>
              </a:ext>
            </a:extLst>
          </p:cNvPr>
          <p:cNvSpPr/>
          <p:nvPr/>
        </p:nvSpPr>
        <p:spPr>
          <a:xfrm>
            <a:off x="0" y="0"/>
            <a:ext cx="203200" cy="812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FB24D-C0F6-3ACF-2F96-E1AB46C9E62B}"/>
              </a:ext>
            </a:extLst>
          </p:cNvPr>
          <p:cNvSpPr txBox="1"/>
          <p:nvPr/>
        </p:nvSpPr>
        <p:spPr>
          <a:xfrm>
            <a:off x="431800" y="152400"/>
            <a:ext cx="8255000" cy="38985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开发灵感：</a:t>
            </a:r>
            <a:r>
              <a:rPr lang="en-US" altLang="zh-CN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</a:t>
            </a:r>
            <a:r>
              <a:rPr lang="zh-CN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审核准备仍然慢且碎片化</a:t>
            </a:r>
            <a:endParaRPr lang="en-US" sz="22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537FA-8452-7002-AD48-407A53A4C563}"/>
              </a:ext>
            </a:extLst>
          </p:cNvPr>
          <p:cNvSpPr txBox="1"/>
          <p:nvPr/>
        </p:nvSpPr>
        <p:spPr>
          <a:xfrm>
            <a:off x="457200" y="533400"/>
            <a:ext cx="88900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Manual review pain points and target upgrade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84FA4-0F7D-DEA9-09F9-0D8CCF94C2D4}"/>
              </a:ext>
            </a:extLst>
          </p:cNvPr>
          <p:cNvSpPr txBox="1"/>
          <p:nvPr/>
        </p:nvSpPr>
        <p:spPr>
          <a:xfrm>
            <a:off x="10363200" y="215900"/>
            <a:ext cx="14732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AI Workbench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9EF95-DA68-8FAC-0DDD-056FD7B447E6}"/>
              </a:ext>
            </a:extLst>
          </p:cNvPr>
          <p:cNvSpPr txBox="1"/>
          <p:nvPr/>
        </p:nvSpPr>
        <p:spPr>
          <a:xfrm>
            <a:off x="457200" y="6553200"/>
            <a:ext cx="58420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Confidential | aspice-audit-master Helix linked edition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65CF0-621D-D8D5-93DD-DCEDDF00CDE7}"/>
              </a:ext>
            </a:extLst>
          </p:cNvPr>
          <p:cNvSpPr txBox="1"/>
          <p:nvPr/>
        </p:nvSpPr>
        <p:spPr>
          <a:xfrm>
            <a:off x="10795000" y="6553200"/>
            <a:ext cx="9906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Page 2 / 10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44C5D0-AB7F-6D32-664B-FABB977F2F64}"/>
              </a:ext>
            </a:extLst>
          </p:cNvPr>
          <p:cNvSpPr/>
          <p:nvPr/>
        </p:nvSpPr>
        <p:spPr>
          <a:xfrm>
            <a:off x="660400" y="1320800"/>
            <a:ext cx="48260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F53A0B-6BE3-1026-7083-82F972E99D93}"/>
              </a:ext>
            </a:extLst>
          </p:cNvPr>
          <p:cNvSpPr/>
          <p:nvPr/>
        </p:nvSpPr>
        <p:spPr>
          <a:xfrm>
            <a:off x="660400" y="1320800"/>
            <a:ext cx="76200" cy="3937000"/>
          </a:xfrm>
          <a:prstGeom prst="rect">
            <a:avLst/>
          </a:prstGeom>
          <a:solidFill>
            <a:srgbClr val="C050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FACBE8-A197-5151-1715-4BC25AA8643C}"/>
              </a:ext>
            </a:extLst>
          </p:cNvPr>
          <p:cNvSpPr txBox="1"/>
          <p:nvPr/>
        </p:nvSpPr>
        <p:spPr>
          <a:xfrm>
            <a:off x="863600" y="1473200"/>
            <a:ext cx="45212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传统审核准备的断点</a:t>
            </a:r>
            <a:endParaRPr lang="en-US" sz="16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CA76CC-9A2C-D393-480D-4575C7B2B272}"/>
              </a:ext>
            </a:extLst>
          </p:cNvPr>
          <p:cNvSpPr txBox="1"/>
          <p:nvPr/>
        </p:nvSpPr>
        <p:spPr>
          <a:xfrm>
            <a:off x="863600" y="1854200"/>
            <a:ext cx="4495800" cy="97462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资料分散在本地导出、</a:t>
            </a:r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项目、邮件和会议记录中</a:t>
            </a:r>
          </a:p>
          <a:p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SYS/SWE/SUP/MAN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过程域容易被混看，证据边界不清</a:t>
            </a:r>
          </a:p>
          <a:p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REQ/RE/TASK/Issue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与测试记录的关联需要人工反复追</a:t>
            </a:r>
          </a:p>
          <a:p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BP/GP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打分缺少可复核的证据描述和关闭计划</a:t>
            </a:r>
          </a:p>
          <a:p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报告输出依赖人工整理，会议前很难快速形成问题清单</a:t>
            </a:r>
            <a:endParaRPr lang="en-US" sz="12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F59CA8-296E-ED57-E751-74FEE2591FC9}"/>
              </a:ext>
            </a:extLst>
          </p:cNvPr>
          <p:cNvSpPr/>
          <p:nvPr/>
        </p:nvSpPr>
        <p:spPr>
          <a:xfrm>
            <a:off x="6705600" y="1320800"/>
            <a:ext cx="48260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A513D0-2B9A-8F17-6987-CE4802389960}"/>
              </a:ext>
            </a:extLst>
          </p:cNvPr>
          <p:cNvSpPr/>
          <p:nvPr/>
        </p:nvSpPr>
        <p:spPr>
          <a:xfrm>
            <a:off x="6705600" y="1320800"/>
            <a:ext cx="76200" cy="3937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A04808-FB66-AC59-AD6B-A7D6637414FD}"/>
              </a:ext>
            </a:extLst>
          </p:cNvPr>
          <p:cNvSpPr txBox="1"/>
          <p:nvPr/>
        </p:nvSpPr>
        <p:spPr>
          <a:xfrm>
            <a:off x="6908800" y="1473200"/>
            <a:ext cx="45212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6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升级后的目标形态</a:t>
            </a:r>
            <a:endParaRPr lang="en-US" sz="16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268643-4066-4A6D-B5FC-5E20471E2108}"/>
              </a:ext>
            </a:extLst>
          </p:cNvPr>
          <p:cNvSpPr txBox="1"/>
          <p:nvPr/>
        </p:nvSpPr>
        <p:spPr>
          <a:xfrm>
            <a:off x="6908800" y="1854200"/>
            <a:ext cx="4495800" cy="97462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首页同时提供本地上传与 </a:t>
            </a:r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直连两种取证方式</a:t>
            </a:r>
          </a:p>
          <a:p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用户手动锁定主过程域和关联过程域，避免无关分析</a:t>
            </a:r>
          </a:p>
          <a:p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Helix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快照补充进度、工作流、链接、附件、问题闭环信息</a:t>
            </a:r>
          </a:p>
          <a:p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Codex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按完整证据包给出结构化建议，再生成评分候选</a:t>
            </a:r>
          </a:p>
          <a:p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一键输出面向审核会议的 </a:t>
            </a:r>
            <a:r>
              <a:rPr lang="en-US" altLang="zh-CN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PDF </a:t>
            </a:r>
            <a:r>
              <a:rPr lang="zh-CN" altLang="en-US" sz="12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证据和问题报告</a:t>
            </a:r>
            <a:endParaRPr lang="en-US" sz="12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4B42D8-0E64-9615-5C03-05DCB7F4C0D2}"/>
              </a:ext>
            </a:extLst>
          </p:cNvPr>
          <p:cNvCxnSpPr/>
          <p:nvPr/>
        </p:nvCxnSpPr>
        <p:spPr>
          <a:xfrm>
            <a:off x="5816600" y="3200400"/>
            <a:ext cx="558800" cy="0"/>
          </a:xfrm>
          <a:prstGeom prst="line">
            <a:avLst/>
          </a:prstGeom>
          <a:ln w="38100">
            <a:solidFill>
              <a:srgbClr val="E9713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E15092B-E674-193F-5717-E3A9830F9347}"/>
              </a:ext>
            </a:extLst>
          </p:cNvPr>
          <p:cNvSpPr txBox="1"/>
          <p:nvPr/>
        </p:nvSpPr>
        <p:spPr>
          <a:xfrm>
            <a:off x="1270000" y="5689600"/>
            <a:ext cx="9652000" cy="328295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核心变化：从「上传文件后给建议」升级为「围绕项目真实证据链进行 </a:t>
            </a:r>
            <a:r>
              <a:rPr lang="en-US" altLang="zh-CN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</a:t>
            </a:r>
            <a:r>
              <a:rPr lang="zh-CN" altLang="en-US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预评估」。</a:t>
            </a:r>
            <a:endParaRPr lang="en-US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2735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1BE6E-CC8B-5574-BB4D-DF7940AEDE1D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EAA7CF-E803-86DD-6805-A16C338731C8}"/>
              </a:ext>
            </a:extLst>
          </p:cNvPr>
          <p:cNvSpPr/>
          <p:nvPr/>
        </p:nvSpPr>
        <p:spPr>
          <a:xfrm>
            <a:off x="0" y="0"/>
            <a:ext cx="203200" cy="812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FD24E-17D9-5433-915E-46CA2FA39962}"/>
              </a:ext>
            </a:extLst>
          </p:cNvPr>
          <p:cNvSpPr txBox="1"/>
          <p:nvPr/>
        </p:nvSpPr>
        <p:spPr>
          <a:xfrm>
            <a:off x="431800" y="152400"/>
            <a:ext cx="8255000" cy="38985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产品定位升级：从网页扫描器到审核工作台</a:t>
            </a:r>
            <a:endParaRPr lang="en-US" sz="22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5804B-1834-E224-18B1-0A98256E0AA5}"/>
              </a:ext>
            </a:extLst>
          </p:cNvPr>
          <p:cNvSpPr txBox="1"/>
          <p:nvPr/>
        </p:nvSpPr>
        <p:spPr>
          <a:xfrm>
            <a:off x="457200" y="533400"/>
            <a:ext cx="88900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Three pillars of the latest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6DC56-DC15-F155-2715-DD8C8DF08ACF}"/>
              </a:ext>
            </a:extLst>
          </p:cNvPr>
          <p:cNvSpPr txBox="1"/>
          <p:nvPr/>
        </p:nvSpPr>
        <p:spPr>
          <a:xfrm>
            <a:off x="10363200" y="215900"/>
            <a:ext cx="14732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AI Workbench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76F87-C9E4-E8D7-5C84-7671A97CEA2F}"/>
              </a:ext>
            </a:extLst>
          </p:cNvPr>
          <p:cNvSpPr txBox="1"/>
          <p:nvPr/>
        </p:nvSpPr>
        <p:spPr>
          <a:xfrm>
            <a:off x="457200" y="6553200"/>
            <a:ext cx="58420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Confidential | aspice-audit-master Helix linked edition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636AD-24D8-BE25-567F-0E4022412EA6}"/>
              </a:ext>
            </a:extLst>
          </p:cNvPr>
          <p:cNvSpPr txBox="1"/>
          <p:nvPr/>
        </p:nvSpPr>
        <p:spPr>
          <a:xfrm>
            <a:off x="10795000" y="6553200"/>
            <a:ext cx="9906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Page 3 / 10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9E2BF1-7FB6-C678-B30A-C1D1F2FE4FAA}"/>
              </a:ext>
            </a:extLst>
          </p:cNvPr>
          <p:cNvSpPr/>
          <p:nvPr/>
        </p:nvSpPr>
        <p:spPr>
          <a:xfrm>
            <a:off x="609600" y="1422400"/>
            <a:ext cx="33655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92F1E5-09CB-8C47-C9C5-13C51AC50E02}"/>
              </a:ext>
            </a:extLst>
          </p:cNvPr>
          <p:cNvSpPr/>
          <p:nvPr/>
        </p:nvSpPr>
        <p:spPr>
          <a:xfrm>
            <a:off x="609600" y="1422400"/>
            <a:ext cx="76200" cy="3429000"/>
          </a:xfrm>
          <a:prstGeom prst="rect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088233-D41E-4549-ABEB-040D40371D45}"/>
              </a:ext>
            </a:extLst>
          </p:cNvPr>
          <p:cNvSpPr txBox="1"/>
          <p:nvPr/>
        </p:nvSpPr>
        <p:spPr>
          <a:xfrm>
            <a:off x="812800" y="1574800"/>
            <a:ext cx="30607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1. Local Evidence Workbench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AD851D-CC50-24C0-091D-CDB7D4724955}"/>
              </a:ext>
            </a:extLst>
          </p:cNvPr>
          <p:cNvSpPr txBox="1"/>
          <p:nvPr/>
        </p:nvSpPr>
        <p:spPr>
          <a:xfrm>
            <a:off x="812800" y="1955800"/>
            <a:ext cx="3035300" cy="820738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ja-JP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支持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DOCX/PPTX/XLSX/XLSM/PDF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解析</a:t>
            </a:r>
          </a:p>
          <a:p>
            <a:r>
              <a:rPr lang="en-US" altLang="ja-JP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保留上传资料，支持多文件依赖关系分析</a:t>
            </a:r>
          </a:p>
          <a:p>
            <a:r>
              <a:rPr lang="en-US" altLang="ja-JP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识别标题、表格、正文、图片和流程图摘要</a:t>
            </a:r>
          </a:p>
          <a:p>
            <a:r>
              <a:rPr lang="en-US" altLang="ja-JP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过程域分类支持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SYS/SWE/SUP/MAN/ACQ/SPL/VAL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等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8E030F-14C7-66B1-B664-97038F5678FC}"/>
              </a:ext>
            </a:extLst>
          </p:cNvPr>
          <p:cNvSpPr/>
          <p:nvPr/>
        </p:nvSpPr>
        <p:spPr>
          <a:xfrm>
            <a:off x="4406900" y="1422400"/>
            <a:ext cx="33655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CB480C-FF7D-0148-18F1-87C078B3FE7D}"/>
              </a:ext>
            </a:extLst>
          </p:cNvPr>
          <p:cNvSpPr/>
          <p:nvPr/>
        </p:nvSpPr>
        <p:spPr>
          <a:xfrm>
            <a:off x="4406900" y="1422400"/>
            <a:ext cx="76200" cy="3429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45E955-0C9C-7298-00BD-E9C56EC19AD0}"/>
              </a:ext>
            </a:extLst>
          </p:cNvPr>
          <p:cNvSpPr txBox="1"/>
          <p:nvPr/>
        </p:nvSpPr>
        <p:spPr>
          <a:xfrm>
            <a:off x="4610100" y="1574800"/>
            <a:ext cx="30607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2. Helix ALM Evidence Gateway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B3EB03-67A8-6870-281B-7164BAEC00C7}"/>
              </a:ext>
            </a:extLst>
          </p:cNvPr>
          <p:cNvSpPr txBox="1"/>
          <p:nvPr/>
        </p:nvSpPr>
        <p:spPr>
          <a:xfrm>
            <a:off x="4610100" y="1955800"/>
            <a:ext cx="3035300" cy="97462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ja-JP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在首页直接连接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项目</a:t>
            </a:r>
          </a:p>
          <a:p>
            <a:r>
              <a:rPr lang="en-US" altLang="ja-JP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读取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REQ/RE、Documents、Issues/TASK、Test Cases、Test Runs、Folders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一次最多 </a:t>
            </a:r>
            <a:r>
              <a:rPr lang="en-US" altLang="ja-JP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100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条采样，可按类型和搜索表达式筛选</a:t>
            </a:r>
          </a:p>
          <a:p>
            <a:r>
              <a:rPr lang="en-US" altLang="ja-JP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Issues/TASK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作为项目支撑材料，不替代受控工作产品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2C1AD74-59F8-AF95-8240-1FB8321FE947}"/>
              </a:ext>
            </a:extLst>
          </p:cNvPr>
          <p:cNvSpPr/>
          <p:nvPr/>
        </p:nvSpPr>
        <p:spPr>
          <a:xfrm>
            <a:off x="8204200" y="1422400"/>
            <a:ext cx="33655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FE357A-1C75-0560-F605-14AB905CB699}"/>
              </a:ext>
            </a:extLst>
          </p:cNvPr>
          <p:cNvSpPr/>
          <p:nvPr/>
        </p:nvSpPr>
        <p:spPr>
          <a:xfrm>
            <a:off x="8204200" y="1422400"/>
            <a:ext cx="76200" cy="3429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928397-0799-CFF3-C40A-C56B348A5EF2}"/>
              </a:ext>
            </a:extLst>
          </p:cNvPr>
          <p:cNvSpPr txBox="1"/>
          <p:nvPr/>
        </p:nvSpPr>
        <p:spPr>
          <a:xfrm>
            <a:off x="8407400" y="1574800"/>
            <a:ext cx="30607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3. Codex ASPICE Reviewer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9AAE17-9BAA-E967-6124-833149AC6F97}"/>
              </a:ext>
            </a:extLst>
          </p:cNvPr>
          <p:cNvSpPr txBox="1"/>
          <p:nvPr/>
        </p:nvSpPr>
        <p:spPr>
          <a:xfrm>
            <a:off x="8407400" y="1955800"/>
            <a:ext cx="3035300" cy="820738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把完整解析文件、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选中证据和本地规则输入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按用户锁定的过程域输出审核结论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BP/GP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评分候选放在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建议之后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生成正式报告和关闭证据计划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0F2F9B-9AB2-7D78-8B2C-39C5FEF2F174}"/>
              </a:ext>
            </a:extLst>
          </p:cNvPr>
          <p:cNvSpPr/>
          <p:nvPr/>
        </p:nvSpPr>
        <p:spPr>
          <a:xfrm>
            <a:off x="863600" y="5334000"/>
            <a:ext cx="10464800" cy="711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DFF8F0-16CC-C65D-70F9-AF1A1BBF9177}"/>
              </a:ext>
            </a:extLst>
          </p:cNvPr>
          <p:cNvSpPr txBox="1"/>
          <p:nvPr/>
        </p:nvSpPr>
        <p:spPr>
          <a:xfrm>
            <a:off x="1117600" y="5486400"/>
            <a:ext cx="9969500" cy="25135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边界原则：外部 </a:t>
            </a:r>
            <a:r>
              <a:rPr lang="en-US" altLang="zh-CN" sz="13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</a:t>
            </a:r>
            <a:r>
              <a:rPr lang="zh-CN" altLang="en-US" sz="13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标准、提示词和公开资料只作为判断口径，不会被当作项目已经具备的证据；</a:t>
            </a:r>
            <a:r>
              <a:rPr lang="en-US" altLang="zh-CN" sz="13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zh-CN" altLang="en-US" sz="13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口令不写入报告或导出包。</a:t>
            </a:r>
            <a:endParaRPr lang="en-US" sz="13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579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A24A1C-5452-05F8-2D0C-8360680EF198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B63A44-ADE1-1C5B-9A53-3A686EF028AF}"/>
              </a:ext>
            </a:extLst>
          </p:cNvPr>
          <p:cNvSpPr/>
          <p:nvPr/>
        </p:nvSpPr>
        <p:spPr>
          <a:xfrm>
            <a:off x="0" y="0"/>
            <a:ext cx="203200" cy="812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514C8-C522-85F8-1DE0-158A9C3E2DB1}"/>
              </a:ext>
            </a:extLst>
          </p:cNvPr>
          <p:cNvSpPr txBox="1"/>
          <p:nvPr/>
        </p:nvSpPr>
        <p:spPr>
          <a:xfrm>
            <a:off x="431800" y="152400"/>
            <a:ext cx="8255000" cy="38985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最新版首页：文件上传与 </a:t>
            </a:r>
            <a:r>
              <a:rPr lang="en-US" altLang="zh-CN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zh-CN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直连并列入口</a:t>
            </a:r>
            <a:endParaRPr lang="en-US" sz="22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8B7BF-7180-1BDD-4C4B-CF1BEBE0939E}"/>
              </a:ext>
            </a:extLst>
          </p:cNvPr>
          <p:cNvSpPr txBox="1"/>
          <p:nvPr/>
        </p:nvSpPr>
        <p:spPr>
          <a:xfrm>
            <a:off x="457200" y="533400"/>
            <a:ext cx="88900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Actual UI screenshot after Helix home integration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7A245E-76C2-D0A0-A862-996E925BC6DE}"/>
              </a:ext>
            </a:extLst>
          </p:cNvPr>
          <p:cNvSpPr txBox="1"/>
          <p:nvPr/>
        </p:nvSpPr>
        <p:spPr>
          <a:xfrm>
            <a:off x="10363200" y="215900"/>
            <a:ext cx="14732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AI Workbench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1CCA63-3E6E-7E48-476C-85C95B3FFE2C}"/>
              </a:ext>
            </a:extLst>
          </p:cNvPr>
          <p:cNvSpPr txBox="1"/>
          <p:nvPr/>
        </p:nvSpPr>
        <p:spPr>
          <a:xfrm>
            <a:off x="457200" y="6553200"/>
            <a:ext cx="58420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Confidential | aspice-audit-master Helix linked edition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2C68F-D178-4D13-0259-733F184D8017}"/>
              </a:ext>
            </a:extLst>
          </p:cNvPr>
          <p:cNvSpPr txBox="1"/>
          <p:nvPr/>
        </p:nvSpPr>
        <p:spPr>
          <a:xfrm>
            <a:off x="10795000" y="6553200"/>
            <a:ext cx="9906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Page 4 / 10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E6D5FE-D557-D628-4BD0-8EA206E49038}"/>
              </a:ext>
            </a:extLst>
          </p:cNvPr>
          <p:cNvSpPr/>
          <p:nvPr/>
        </p:nvSpPr>
        <p:spPr>
          <a:xfrm>
            <a:off x="533400" y="1320800"/>
            <a:ext cx="3149600" cy="414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3371A5-26A5-A08A-CDE8-CB5AD0CE6A73}"/>
              </a:ext>
            </a:extLst>
          </p:cNvPr>
          <p:cNvSpPr/>
          <p:nvPr/>
        </p:nvSpPr>
        <p:spPr>
          <a:xfrm>
            <a:off x="533400" y="1320800"/>
            <a:ext cx="76200" cy="4140200"/>
          </a:xfrm>
          <a:prstGeom prst="rect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04B45F-B023-96E3-BB5D-348EFED8A86C}"/>
              </a:ext>
            </a:extLst>
          </p:cNvPr>
          <p:cNvSpPr txBox="1"/>
          <p:nvPr/>
        </p:nvSpPr>
        <p:spPr>
          <a:xfrm>
            <a:off x="736600" y="1473200"/>
            <a:ext cx="28448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审核员从首页开始</a:t>
            </a:r>
            <a:endParaRPr lang="en-US" sz="15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121DF-1F56-17A1-C342-7FD2F6A34411}"/>
              </a:ext>
            </a:extLst>
          </p:cNvPr>
          <p:cNvSpPr txBox="1"/>
          <p:nvPr/>
        </p:nvSpPr>
        <p:spPr>
          <a:xfrm>
            <a:off x="736600" y="1854200"/>
            <a:ext cx="2819400" cy="123623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未上传文件时先看到初始页和操作说明</a:t>
            </a:r>
          </a:p>
          <a:p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上传本地文件，或直接从 </a:t>
            </a:r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中选择应审资料</a:t>
            </a:r>
          </a:p>
          <a:p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Helix issues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可导入为项目支撑材料</a:t>
            </a:r>
          </a:p>
          <a:p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后续页面通过返回</a:t>
            </a:r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前进切换，避免信息层级混乱</a:t>
            </a:r>
          </a:p>
          <a:p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中英文切换和 </a:t>
            </a:r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PDF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下载固定在右上角</a:t>
            </a:r>
            <a:endParaRPr lang="en-US" sz="11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0B3A56-FB7C-E217-25A2-3AF9480B068C}"/>
              </a:ext>
            </a:extLst>
          </p:cNvPr>
          <p:cNvSpPr/>
          <p:nvPr/>
        </p:nvSpPr>
        <p:spPr>
          <a:xfrm>
            <a:off x="4038600" y="1219200"/>
            <a:ext cx="75184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67017F-D13B-0487-0374-78CA35E45AB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400" y="1355725"/>
            <a:ext cx="7416800" cy="41719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E24674-5FCB-1BD9-788E-5E84A39C6CC6}"/>
              </a:ext>
            </a:extLst>
          </p:cNvPr>
          <p:cNvSpPr txBox="1"/>
          <p:nvPr/>
        </p:nvSpPr>
        <p:spPr>
          <a:xfrm>
            <a:off x="4318000" y="5816600"/>
            <a:ext cx="68326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ja-JP" altLang="en-US" sz="10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截图来源：</a:t>
            </a:r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v1.4.8 Helix-home-rest </a:t>
            </a:r>
            <a:r>
              <a:rPr lang="ja-JP" altLang="en-US" sz="10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版本本地 </a:t>
            </a:r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Edge </a:t>
            </a:r>
            <a:r>
              <a:rPr lang="ja-JP" altLang="en-US" sz="10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页面。首页已把 </a:t>
            </a:r>
            <a:r>
              <a:rPr lang="en-US" sz="10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ja-JP" altLang="en-US" sz="10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取证放在上传按钮下方。</a:t>
            </a:r>
            <a:endParaRPr lang="en-US" sz="1000">
              <a:solidFill>
                <a:srgbClr val="64748B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776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4ED670-DBBB-C8F0-A16E-15232BE3E158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F321BA-40AA-B194-F153-43D3483183A9}"/>
              </a:ext>
            </a:extLst>
          </p:cNvPr>
          <p:cNvSpPr/>
          <p:nvPr/>
        </p:nvSpPr>
        <p:spPr>
          <a:xfrm>
            <a:off x="0" y="0"/>
            <a:ext cx="203200" cy="812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F8717-3BEC-F8ED-7AD1-4CC9D7302059}"/>
              </a:ext>
            </a:extLst>
          </p:cNvPr>
          <p:cNvSpPr txBox="1"/>
          <p:nvPr/>
        </p:nvSpPr>
        <p:spPr>
          <a:xfrm>
            <a:off x="431800" y="152400"/>
            <a:ext cx="8255000" cy="38985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ALM </a:t>
            </a:r>
            <a:r>
              <a:rPr lang="zh-CN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联动架构：本地桥接 </a:t>
            </a:r>
            <a:r>
              <a:rPr lang="en-US" altLang="zh-CN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 REST API + </a:t>
            </a:r>
            <a:r>
              <a:rPr lang="zh-CN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证据选择</a:t>
            </a:r>
            <a:endParaRPr lang="en-US" sz="22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9C9AA-7567-AC07-E36F-8922613296C4}"/>
              </a:ext>
            </a:extLst>
          </p:cNvPr>
          <p:cNvSpPr txBox="1"/>
          <p:nvPr/>
        </p:nvSpPr>
        <p:spPr>
          <a:xfrm>
            <a:off x="457200" y="533400"/>
            <a:ext cx="88900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How the Edge extension reads project data without exposing credentials in reports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20CE7-EDB3-251A-2450-1214930E6B7A}"/>
              </a:ext>
            </a:extLst>
          </p:cNvPr>
          <p:cNvSpPr txBox="1"/>
          <p:nvPr/>
        </p:nvSpPr>
        <p:spPr>
          <a:xfrm>
            <a:off x="10363200" y="215900"/>
            <a:ext cx="14732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AI Workbench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BEE06-D719-9E8C-EBDA-92CD45355BA2}"/>
              </a:ext>
            </a:extLst>
          </p:cNvPr>
          <p:cNvSpPr txBox="1"/>
          <p:nvPr/>
        </p:nvSpPr>
        <p:spPr>
          <a:xfrm>
            <a:off x="457200" y="6553200"/>
            <a:ext cx="58420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Confidential | aspice-audit-master Helix linked edition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E49035-EA4C-3240-2CD1-A8837644E137}"/>
              </a:ext>
            </a:extLst>
          </p:cNvPr>
          <p:cNvSpPr txBox="1"/>
          <p:nvPr/>
        </p:nvSpPr>
        <p:spPr>
          <a:xfrm>
            <a:off x="10795000" y="6553200"/>
            <a:ext cx="9906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Page 5 / 10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124F0A-43C4-3749-E998-D6BC70A05636}"/>
              </a:ext>
            </a:extLst>
          </p:cNvPr>
          <p:cNvSpPr/>
          <p:nvPr/>
        </p:nvSpPr>
        <p:spPr>
          <a:xfrm>
            <a:off x="685800" y="16256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5432A9-FD2B-2737-0534-82549BA2435B}"/>
              </a:ext>
            </a:extLst>
          </p:cNvPr>
          <p:cNvSpPr/>
          <p:nvPr/>
        </p:nvSpPr>
        <p:spPr>
          <a:xfrm>
            <a:off x="838200" y="1752600"/>
            <a:ext cx="355600" cy="355600"/>
          </a:xfrm>
          <a:prstGeom prst="ellipse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3806CF-7472-E7C8-25C0-7C4F3CAF216C}"/>
              </a:ext>
            </a:extLst>
          </p:cNvPr>
          <p:cNvSpPr txBox="1"/>
          <p:nvPr/>
        </p:nvSpPr>
        <p:spPr>
          <a:xfrm>
            <a:off x="850900" y="18161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BD7DFF-8F5A-0230-F4A2-CB4DA2F1520D}"/>
              </a:ext>
            </a:extLst>
          </p:cNvPr>
          <p:cNvSpPr txBox="1"/>
          <p:nvPr/>
        </p:nvSpPr>
        <p:spPr>
          <a:xfrm>
            <a:off x="1295400" y="17780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Edge </a:t>
            </a:r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插件</a:t>
            </a:r>
            <a:endParaRPr lang="en-US" sz="11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93C24A-A90C-ECB2-2CA4-885836D13E2D}"/>
              </a:ext>
            </a:extLst>
          </p:cNvPr>
          <p:cNvSpPr txBox="1"/>
          <p:nvPr/>
        </p:nvSpPr>
        <p:spPr>
          <a:xfrm>
            <a:off x="863600" y="21844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首页输入连接参数并选择资料类型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748A747-A63F-757D-5DE6-72DCC1CC6DE9}"/>
              </a:ext>
            </a:extLst>
          </p:cNvPr>
          <p:cNvCxnSpPr/>
          <p:nvPr/>
        </p:nvCxnSpPr>
        <p:spPr>
          <a:xfrm>
            <a:off x="2260600" y="2209800"/>
            <a:ext cx="254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A73562-2F25-4249-6871-B2770D00FA03}"/>
              </a:ext>
            </a:extLst>
          </p:cNvPr>
          <p:cNvSpPr/>
          <p:nvPr/>
        </p:nvSpPr>
        <p:spPr>
          <a:xfrm>
            <a:off x="2616200" y="16256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137FE53-9F5A-5D84-7D36-D139B28B126F}"/>
              </a:ext>
            </a:extLst>
          </p:cNvPr>
          <p:cNvSpPr/>
          <p:nvPr/>
        </p:nvSpPr>
        <p:spPr>
          <a:xfrm>
            <a:off x="2768600" y="1752600"/>
            <a:ext cx="355600" cy="355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5B76E8-5786-1EA0-9B44-7CE225B6A8F2}"/>
              </a:ext>
            </a:extLst>
          </p:cNvPr>
          <p:cNvSpPr txBox="1"/>
          <p:nvPr/>
        </p:nvSpPr>
        <p:spPr>
          <a:xfrm>
            <a:off x="2781300" y="18161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A7B528-86D9-D6B4-69A2-4F3A1281BDF9}"/>
              </a:ext>
            </a:extLst>
          </p:cNvPr>
          <p:cNvSpPr txBox="1"/>
          <p:nvPr/>
        </p:nvSpPr>
        <p:spPr>
          <a:xfrm>
            <a:off x="3225800" y="1778000"/>
            <a:ext cx="787400" cy="38985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本地 </a:t>
            </a:r>
            <a:r>
              <a:rPr 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Bridge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62E97D-3912-81E2-B0C2-92CDC1875EEB}"/>
              </a:ext>
            </a:extLst>
          </p:cNvPr>
          <p:cNvSpPr txBox="1"/>
          <p:nvPr/>
        </p:nvSpPr>
        <p:spPr>
          <a:xfrm>
            <a:off x="2794000" y="21844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PowerShell </a:t>
            </a:r>
            <a:r>
              <a:rPr lang="ja-JP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本地服务转发请求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F956CC7-31D0-4F9E-D475-1DCE438DB0B1}"/>
              </a:ext>
            </a:extLst>
          </p:cNvPr>
          <p:cNvCxnSpPr/>
          <p:nvPr/>
        </p:nvCxnSpPr>
        <p:spPr>
          <a:xfrm>
            <a:off x="4191000" y="2209800"/>
            <a:ext cx="254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2527DD7-ADBC-CB30-8056-B7A90B55614A}"/>
              </a:ext>
            </a:extLst>
          </p:cNvPr>
          <p:cNvSpPr/>
          <p:nvPr/>
        </p:nvSpPr>
        <p:spPr>
          <a:xfrm>
            <a:off x="4546600" y="16256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C12ED39-5A3F-8DAB-E02D-467DCC964D03}"/>
              </a:ext>
            </a:extLst>
          </p:cNvPr>
          <p:cNvSpPr/>
          <p:nvPr/>
        </p:nvSpPr>
        <p:spPr>
          <a:xfrm>
            <a:off x="4699000" y="1752600"/>
            <a:ext cx="355600" cy="3556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E2A8C8-399D-F85A-5EB7-BE8315621221}"/>
              </a:ext>
            </a:extLst>
          </p:cNvPr>
          <p:cNvSpPr txBox="1"/>
          <p:nvPr/>
        </p:nvSpPr>
        <p:spPr>
          <a:xfrm>
            <a:off x="4711700" y="18161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AE7FA2-426F-E81F-1BED-82AA799B2587}"/>
              </a:ext>
            </a:extLst>
          </p:cNvPr>
          <p:cNvSpPr txBox="1"/>
          <p:nvPr/>
        </p:nvSpPr>
        <p:spPr>
          <a:xfrm>
            <a:off x="5156200" y="17780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REST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B4254A-08BF-C7F5-3266-BFA9F1372DFC}"/>
              </a:ext>
            </a:extLst>
          </p:cNvPr>
          <p:cNvSpPr txBox="1"/>
          <p:nvPr/>
        </p:nvSpPr>
        <p:spPr>
          <a:xfrm>
            <a:off x="4724400" y="21844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https://host:8443/helix-alm/api/v0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0E39DA6-8C45-7559-0042-D3A34345D9CC}"/>
              </a:ext>
            </a:extLst>
          </p:cNvPr>
          <p:cNvCxnSpPr/>
          <p:nvPr/>
        </p:nvCxnSpPr>
        <p:spPr>
          <a:xfrm>
            <a:off x="6121400" y="2209800"/>
            <a:ext cx="254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7728F38-43F6-023F-BB7E-825AA381F798}"/>
              </a:ext>
            </a:extLst>
          </p:cNvPr>
          <p:cNvSpPr/>
          <p:nvPr/>
        </p:nvSpPr>
        <p:spPr>
          <a:xfrm>
            <a:off x="6477000" y="16256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60F3146-A29A-214D-C922-A59C43BD1596}"/>
              </a:ext>
            </a:extLst>
          </p:cNvPr>
          <p:cNvSpPr/>
          <p:nvPr/>
        </p:nvSpPr>
        <p:spPr>
          <a:xfrm>
            <a:off x="6629400" y="1752600"/>
            <a:ext cx="355600" cy="3556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7F83BC-7F54-A9AB-FF71-7A49C81F3A6D}"/>
              </a:ext>
            </a:extLst>
          </p:cNvPr>
          <p:cNvSpPr txBox="1"/>
          <p:nvPr/>
        </p:nvSpPr>
        <p:spPr>
          <a:xfrm>
            <a:off x="6642100" y="18161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641CF4-37DD-E8CC-49D4-6772A22842C9}"/>
              </a:ext>
            </a:extLst>
          </p:cNvPr>
          <p:cNvSpPr txBox="1"/>
          <p:nvPr/>
        </p:nvSpPr>
        <p:spPr>
          <a:xfrm>
            <a:off x="7086600" y="17780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项目 </a:t>
            </a:r>
            <a:r>
              <a:rPr 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Token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EA63FE-D23E-9DAA-C963-DDB85D366D8F}"/>
              </a:ext>
            </a:extLst>
          </p:cNvPr>
          <p:cNvSpPr txBox="1"/>
          <p:nvPr/>
        </p:nvSpPr>
        <p:spPr>
          <a:xfrm>
            <a:off x="6654800" y="2184400"/>
            <a:ext cx="11684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按项目获取访问令牌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2FA2A4E-41E0-79C7-4452-A58C1A8FBDDF}"/>
              </a:ext>
            </a:extLst>
          </p:cNvPr>
          <p:cNvCxnSpPr/>
          <p:nvPr/>
        </p:nvCxnSpPr>
        <p:spPr>
          <a:xfrm>
            <a:off x="8051800" y="2209800"/>
            <a:ext cx="254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D5991E2-9CB5-216F-76C7-0AB3211638B4}"/>
              </a:ext>
            </a:extLst>
          </p:cNvPr>
          <p:cNvSpPr/>
          <p:nvPr/>
        </p:nvSpPr>
        <p:spPr>
          <a:xfrm>
            <a:off x="8407400" y="16256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A367C18-AB34-B142-EE64-816D596A0EC1}"/>
              </a:ext>
            </a:extLst>
          </p:cNvPr>
          <p:cNvSpPr/>
          <p:nvPr/>
        </p:nvSpPr>
        <p:spPr>
          <a:xfrm>
            <a:off x="8559800" y="1752600"/>
            <a:ext cx="355600" cy="355600"/>
          </a:xfrm>
          <a:prstGeom prst="ellipse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4238CF-231A-C1EB-A6BB-4BB2C492E828}"/>
              </a:ext>
            </a:extLst>
          </p:cNvPr>
          <p:cNvSpPr txBox="1"/>
          <p:nvPr/>
        </p:nvSpPr>
        <p:spPr>
          <a:xfrm>
            <a:off x="8572500" y="18161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2796DE-50B8-B41A-67CC-B4ED00C9F53A}"/>
              </a:ext>
            </a:extLst>
          </p:cNvPr>
          <p:cNvSpPr txBox="1"/>
          <p:nvPr/>
        </p:nvSpPr>
        <p:spPr>
          <a:xfrm>
            <a:off x="9017000" y="17780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证据包</a:t>
            </a:r>
            <a:endParaRPr lang="en-US" sz="11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49A4A2-D64B-3AEE-20DC-DBE027887124}"/>
              </a:ext>
            </a:extLst>
          </p:cNvPr>
          <p:cNvSpPr txBox="1"/>
          <p:nvPr/>
        </p:nvSpPr>
        <p:spPr>
          <a:xfrm>
            <a:off x="8585200" y="21844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REQ/RE/TASK/Test/Folders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70DE9B9-BFDE-5D17-F447-1A7455FF4F5A}"/>
              </a:ext>
            </a:extLst>
          </p:cNvPr>
          <p:cNvCxnSpPr/>
          <p:nvPr/>
        </p:nvCxnSpPr>
        <p:spPr>
          <a:xfrm>
            <a:off x="9982200" y="2209800"/>
            <a:ext cx="254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3F102E3-069E-656C-0E22-06C126C9E2CB}"/>
              </a:ext>
            </a:extLst>
          </p:cNvPr>
          <p:cNvSpPr/>
          <p:nvPr/>
        </p:nvSpPr>
        <p:spPr>
          <a:xfrm>
            <a:off x="10337800" y="16256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19D15FD-F3DB-CB4C-4089-A753CA0258AE}"/>
              </a:ext>
            </a:extLst>
          </p:cNvPr>
          <p:cNvSpPr/>
          <p:nvPr/>
        </p:nvSpPr>
        <p:spPr>
          <a:xfrm>
            <a:off x="10490200" y="1752600"/>
            <a:ext cx="355600" cy="355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CCADDA-EA8C-C58C-A55C-CB7334611E31}"/>
              </a:ext>
            </a:extLst>
          </p:cNvPr>
          <p:cNvSpPr txBox="1"/>
          <p:nvPr/>
        </p:nvSpPr>
        <p:spPr>
          <a:xfrm>
            <a:off x="10502900" y="18161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697E47-4169-2CEF-4403-F172DCF5AB10}"/>
              </a:ext>
            </a:extLst>
          </p:cNvPr>
          <p:cNvSpPr txBox="1"/>
          <p:nvPr/>
        </p:nvSpPr>
        <p:spPr>
          <a:xfrm>
            <a:off x="10947400" y="1778000"/>
            <a:ext cx="787400" cy="38985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Codex/PDF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7F92DC-81EA-0FA8-A256-C02AF806984A}"/>
              </a:ext>
            </a:extLst>
          </p:cNvPr>
          <p:cNvSpPr txBox="1"/>
          <p:nvPr/>
        </p:nvSpPr>
        <p:spPr>
          <a:xfrm>
            <a:off x="10515600" y="2184400"/>
            <a:ext cx="11684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结构化建议与正式报告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4EDD149-3AE4-F7D4-4DFC-6E2B9EABCCA7}"/>
              </a:ext>
            </a:extLst>
          </p:cNvPr>
          <p:cNvSpPr/>
          <p:nvPr/>
        </p:nvSpPr>
        <p:spPr>
          <a:xfrm>
            <a:off x="812800" y="3556000"/>
            <a:ext cx="5080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2566E36-A5ED-2B06-B5D5-7EE9A55E59CD}"/>
              </a:ext>
            </a:extLst>
          </p:cNvPr>
          <p:cNvSpPr/>
          <p:nvPr/>
        </p:nvSpPr>
        <p:spPr>
          <a:xfrm>
            <a:off x="812800" y="3556000"/>
            <a:ext cx="76200" cy="1905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DE0FF5-17F9-ACDF-C2FD-F0C41A20C74B}"/>
              </a:ext>
            </a:extLst>
          </p:cNvPr>
          <p:cNvSpPr txBox="1"/>
          <p:nvPr/>
        </p:nvSpPr>
        <p:spPr>
          <a:xfrm>
            <a:off x="1016000" y="3708400"/>
            <a:ext cx="4775200" cy="2667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已实现的 </a:t>
            </a:r>
            <a:r>
              <a:rPr lang="en-US" altLang="zh-CN" sz="14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zh-CN" altLang="en-US" sz="14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读取范围</a:t>
            </a:r>
            <a:endParaRPr lang="en-US" sz="14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AD00E3-0B08-923C-2194-57C010F9C529}"/>
              </a:ext>
            </a:extLst>
          </p:cNvPr>
          <p:cNvSpPr txBox="1"/>
          <p:nvPr/>
        </p:nvSpPr>
        <p:spPr>
          <a:xfrm>
            <a:off x="1016000" y="4089400"/>
            <a:ext cx="4749800" cy="820738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projects -&gt; project token -&gt; requirements/documents/issues/testCases/testRuns/folders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支持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selectedTypes、search expression、limit=100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Invoke-RestMethod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失败时使用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curl.exe fallback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读取结果显示在证据页底部，并输入给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建议页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1EF1F2F-39EE-6753-6AD6-809F899DEBF3}"/>
              </a:ext>
            </a:extLst>
          </p:cNvPr>
          <p:cNvSpPr/>
          <p:nvPr/>
        </p:nvSpPr>
        <p:spPr>
          <a:xfrm>
            <a:off x="6426200" y="3556000"/>
            <a:ext cx="4953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961D37-E32B-17DF-2AE1-8F6FD0A57647}"/>
              </a:ext>
            </a:extLst>
          </p:cNvPr>
          <p:cNvSpPr/>
          <p:nvPr/>
        </p:nvSpPr>
        <p:spPr>
          <a:xfrm>
            <a:off x="6426200" y="3556000"/>
            <a:ext cx="76200" cy="1905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6EDA57-EBCD-C479-4D5E-8E881E1DC788}"/>
              </a:ext>
            </a:extLst>
          </p:cNvPr>
          <p:cNvSpPr txBox="1"/>
          <p:nvPr/>
        </p:nvSpPr>
        <p:spPr>
          <a:xfrm>
            <a:off x="6629400" y="3708400"/>
            <a:ext cx="4648200" cy="2667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4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安全与边界</a:t>
            </a:r>
            <a:endParaRPr lang="en-US" sz="14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E6BC48-9E2B-B7A3-9649-4AA340206832}"/>
              </a:ext>
            </a:extLst>
          </p:cNvPr>
          <p:cNvSpPr txBox="1"/>
          <p:nvPr/>
        </p:nvSpPr>
        <p:spPr>
          <a:xfrm>
            <a:off x="6629400" y="4089400"/>
            <a:ext cx="4622800" cy="66684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用户凭据只用于本地桥接调用，不写入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PPT/PDF/HTML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导出包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Helix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快照是补充项目进度和工作流证据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正式评级仍需要上传或选中的受控工作产品支撑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Issues/TASK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不能单独证明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BP/GP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满足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818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6C501B-1348-BDE9-2A07-D894D1A99CE9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071A12-7BA7-3271-8675-1105076DEB01}"/>
              </a:ext>
            </a:extLst>
          </p:cNvPr>
          <p:cNvSpPr/>
          <p:nvPr/>
        </p:nvSpPr>
        <p:spPr>
          <a:xfrm>
            <a:off x="0" y="0"/>
            <a:ext cx="203200" cy="812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815BD1-F58E-0A40-760E-D8269C81E114}"/>
              </a:ext>
            </a:extLst>
          </p:cNvPr>
          <p:cNvSpPr txBox="1"/>
          <p:nvPr/>
        </p:nvSpPr>
        <p:spPr>
          <a:xfrm>
            <a:off x="431800" y="152400"/>
            <a:ext cx="8255000" cy="38985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证据模型：把不同来源放到正确的 </a:t>
            </a:r>
            <a:r>
              <a:rPr 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</a:t>
            </a:r>
            <a:r>
              <a:rPr lang="ja-JP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角色中</a:t>
            </a:r>
            <a:endParaRPr lang="en-US" sz="22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94B36-660C-88C6-EBC7-FCCD80185933}"/>
              </a:ext>
            </a:extLst>
          </p:cNvPr>
          <p:cNvSpPr txBox="1"/>
          <p:nvPr/>
        </p:nvSpPr>
        <p:spPr>
          <a:xfrm>
            <a:off x="457200" y="533400"/>
            <a:ext cx="88900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Evidence sources, ASPICE use, and boundaries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4526A-79A1-F9EB-1A5A-DD13A9FD9C28}"/>
              </a:ext>
            </a:extLst>
          </p:cNvPr>
          <p:cNvSpPr txBox="1"/>
          <p:nvPr/>
        </p:nvSpPr>
        <p:spPr>
          <a:xfrm>
            <a:off x="10363200" y="215900"/>
            <a:ext cx="14732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AI Workbench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03DB4D-864F-AA81-D844-D84934543017}"/>
              </a:ext>
            </a:extLst>
          </p:cNvPr>
          <p:cNvSpPr txBox="1"/>
          <p:nvPr/>
        </p:nvSpPr>
        <p:spPr>
          <a:xfrm>
            <a:off x="457200" y="6553200"/>
            <a:ext cx="58420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Confidential | aspice-audit-master Helix linked edition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200FD-6898-39C2-A919-03634925238F}"/>
              </a:ext>
            </a:extLst>
          </p:cNvPr>
          <p:cNvSpPr txBox="1"/>
          <p:nvPr/>
        </p:nvSpPr>
        <p:spPr>
          <a:xfrm>
            <a:off x="10795000" y="6553200"/>
            <a:ext cx="9906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Page 6 /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C23FA8-7132-913F-EBC0-C0E90AB9CFD8}"/>
              </a:ext>
            </a:extLst>
          </p:cNvPr>
          <p:cNvSpPr/>
          <p:nvPr/>
        </p:nvSpPr>
        <p:spPr>
          <a:xfrm>
            <a:off x="609600" y="1371600"/>
            <a:ext cx="1841500" cy="50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C05E3B-6304-8B02-91DF-0F570BA1949B}"/>
              </a:ext>
            </a:extLst>
          </p:cNvPr>
          <p:cNvSpPr txBox="1"/>
          <p:nvPr/>
        </p:nvSpPr>
        <p:spPr>
          <a:xfrm>
            <a:off x="685800" y="1435100"/>
            <a:ext cx="17145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9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证据来源</a:t>
            </a:r>
            <a:endParaRPr lang="en-US" sz="9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E68272-4AAA-FBA1-DAAD-A18D6B3BAEC8}"/>
              </a:ext>
            </a:extLst>
          </p:cNvPr>
          <p:cNvSpPr/>
          <p:nvPr/>
        </p:nvSpPr>
        <p:spPr>
          <a:xfrm>
            <a:off x="2451100" y="1371600"/>
            <a:ext cx="2476500" cy="50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C5C9FD-21A6-70A3-6AFE-2B1311BE42CF}"/>
              </a:ext>
            </a:extLst>
          </p:cNvPr>
          <p:cNvSpPr txBox="1"/>
          <p:nvPr/>
        </p:nvSpPr>
        <p:spPr>
          <a:xfrm>
            <a:off x="2527300" y="1435100"/>
            <a:ext cx="23495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9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可读取内容</a:t>
            </a:r>
            <a:endParaRPr lang="en-US" sz="9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6DAF8C-17CD-A23E-3A47-DCD97E266FA4}"/>
              </a:ext>
            </a:extLst>
          </p:cNvPr>
          <p:cNvSpPr/>
          <p:nvPr/>
        </p:nvSpPr>
        <p:spPr>
          <a:xfrm>
            <a:off x="4927600" y="1371600"/>
            <a:ext cx="3492500" cy="50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96C5DE-BE2F-BFC7-ACD3-732020320FD4}"/>
              </a:ext>
            </a:extLst>
          </p:cNvPr>
          <p:cNvSpPr txBox="1"/>
          <p:nvPr/>
        </p:nvSpPr>
        <p:spPr>
          <a:xfrm>
            <a:off x="5003800" y="1435100"/>
            <a:ext cx="33655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9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</a:t>
            </a:r>
            <a:r>
              <a:rPr lang="ja-JP" altLang="en-US" sz="9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用途</a:t>
            </a:r>
            <a:endParaRPr lang="en-US" sz="9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6295E7-C776-3BE9-1EF5-A7439DBCFAC1}"/>
              </a:ext>
            </a:extLst>
          </p:cNvPr>
          <p:cNvSpPr/>
          <p:nvPr/>
        </p:nvSpPr>
        <p:spPr>
          <a:xfrm>
            <a:off x="8420100" y="1371600"/>
            <a:ext cx="3111500" cy="50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88D6A8-7728-1EE0-0E02-8EA943175C64}"/>
              </a:ext>
            </a:extLst>
          </p:cNvPr>
          <p:cNvSpPr txBox="1"/>
          <p:nvPr/>
        </p:nvSpPr>
        <p:spPr>
          <a:xfrm>
            <a:off x="8496300" y="1435100"/>
            <a:ext cx="29845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9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使用边界</a:t>
            </a:r>
            <a:endParaRPr lang="en-US" sz="9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3F8A1-5C76-3B6D-3C9F-95F88F572C07}"/>
              </a:ext>
            </a:extLst>
          </p:cNvPr>
          <p:cNvSpPr/>
          <p:nvPr/>
        </p:nvSpPr>
        <p:spPr>
          <a:xfrm>
            <a:off x="609600" y="1879600"/>
            <a:ext cx="1841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136375-3806-C2A7-DAB4-5855751420EF}"/>
              </a:ext>
            </a:extLst>
          </p:cNvPr>
          <p:cNvSpPr txBox="1"/>
          <p:nvPr/>
        </p:nvSpPr>
        <p:spPr>
          <a:xfrm>
            <a:off x="685800" y="1943100"/>
            <a:ext cx="1714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本地上传文件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F0B3B1-0A95-C064-F162-524C6299E241}"/>
              </a:ext>
            </a:extLst>
          </p:cNvPr>
          <p:cNvSpPr/>
          <p:nvPr/>
        </p:nvSpPr>
        <p:spPr>
          <a:xfrm>
            <a:off x="2451100" y="1879600"/>
            <a:ext cx="2476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E64869-71B5-7548-B2CE-BC3452B81C3C}"/>
              </a:ext>
            </a:extLst>
          </p:cNvPr>
          <p:cNvSpPr txBox="1"/>
          <p:nvPr/>
        </p:nvSpPr>
        <p:spPr>
          <a:xfrm>
            <a:off x="2527300" y="1943100"/>
            <a:ext cx="23495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DOCX/PPTX/XLSX/PDF </a:t>
            </a:r>
            <a:r>
              <a:rPr lang="ja-JP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的标题、正文、表格、图片摘要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5DF610-8CC5-A6DB-95B5-D2BBEC160D65}"/>
              </a:ext>
            </a:extLst>
          </p:cNvPr>
          <p:cNvSpPr/>
          <p:nvPr/>
        </p:nvSpPr>
        <p:spPr>
          <a:xfrm>
            <a:off x="4927600" y="1879600"/>
            <a:ext cx="3492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B3AA1D-21C9-968D-F673-32E0B630DD99}"/>
              </a:ext>
            </a:extLst>
          </p:cNvPr>
          <p:cNvSpPr txBox="1"/>
          <p:nvPr/>
        </p:nvSpPr>
        <p:spPr>
          <a:xfrm>
            <a:off x="5003800" y="1943100"/>
            <a:ext cx="3365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作为受控工作产品的主要证据；用于 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BP/GP/PA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初步判断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7AA41D-E0C0-6E98-83E3-BF01F8BF94B3}"/>
              </a:ext>
            </a:extLst>
          </p:cNvPr>
          <p:cNvSpPr/>
          <p:nvPr/>
        </p:nvSpPr>
        <p:spPr>
          <a:xfrm>
            <a:off x="8420100" y="1879600"/>
            <a:ext cx="3111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754B2D-B554-392B-0564-45E1316B614B}"/>
              </a:ext>
            </a:extLst>
          </p:cNvPr>
          <p:cNvSpPr txBox="1"/>
          <p:nvPr/>
        </p:nvSpPr>
        <p:spPr>
          <a:xfrm>
            <a:off x="8496300" y="1943100"/>
            <a:ext cx="2984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扫描件或图片文字取决于浏览器解析能力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F4494A-1DA6-A3B5-CE42-2D6D6E527BD5}"/>
              </a:ext>
            </a:extLst>
          </p:cNvPr>
          <p:cNvSpPr/>
          <p:nvPr/>
        </p:nvSpPr>
        <p:spPr>
          <a:xfrm>
            <a:off x="609600" y="2616200"/>
            <a:ext cx="1841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85E386-1E69-4149-B2B2-80329C95C8D7}"/>
              </a:ext>
            </a:extLst>
          </p:cNvPr>
          <p:cNvSpPr txBox="1"/>
          <p:nvPr/>
        </p:nvSpPr>
        <p:spPr>
          <a:xfrm>
            <a:off x="685800" y="2679700"/>
            <a:ext cx="1714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REQ / 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309FF8-4FD3-4BC0-9F4A-70A5AF938F36}"/>
              </a:ext>
            </a:extLst>
          </p:cNvPr>
          <p:cNvSpPr/>
          <p:nvPr/>
        </p:nvSpPr>
        <p:spPr>
          <a:xfrm>
            <a:off x="2451100" y="2616200"/>
            <a:ext cx="2476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89B53B-CEFC-7594-8325-F89C6E7AC5E8}"/>
              </a:ext>
            </a:extLst>
          </p:cNvPr>
          <p:cNvSpPr txBox="1"/>
          <p:nvPr/>
        </p:nvSpPr>
        <p:spPr>
          <a:xfrm>
            <a:off x="2527300" y="2679700"/>
            <a:ext cx="23495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需求对象、文档、状态、链接、文件夹、附件、事件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FC877A-CBD7-C760-36E2-29CD62D1391E}"/>
              </a:ext>
            </a:extLst>
          </p:cNvPr>
          <p:cNvSpPr/>
          <p:nvPr/>
        </p:nvSpPr>
        <p:spPr>
          <a:xfrm>
            <a:off x="4927600" y="2616200"/>
            <a:ext cx="3492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DA6F5A-9A4E-8064-CB17-AE8B9DDFFBFF}"/>
              </a:ext>
            </a:extLst>
          </p:cNvPr>
          <p:cNvSpPr txBox="1"/>
          <p:nvPr/>
        </p:nvSpPr>
        <p:spPr>
          <a:xfrm>
            <a:off x="5003800" y="2679700"/>
            <a:ext cx="3365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补充需求身份、状态、追溯、评审和 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baseline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3118B8-4D80-2493-2BAF-616387F27FF2}"/>
              </a:ext>
            </a:extLst>
          </p:cNvPr>
          <p:cNvSpPr/>
          <p:nvPr/>
        </p:nvSpPr>
        <p:spPr>
          <a:xfrm>
            <a:off x="8420100" y="2616200"/>
            <a:ext cx="3111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BD4AE6-4792-971B-C144-4722CCE541B4}"/>
              </a:ext>
            </a:extLst>
          </p:cNvPr>
          <p:cNvSpPr txBox="1"/>
          <p:nvPr/>
        </p:nvSpPr>
        <p:spPr>
          <a:xfrm>
            <a:off x="8496300" y="2679700"/>
            <a:ext cx="2984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不能替代正式导出的需求规格书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482CB0-9210-DD1B-D786-9858CBBE4168}"/>
              </a:ext>
            </a:extLst>
          </p:cNvPr>
          <p:cNvSpPr/>
          <p:nvPr/>
        </p:nvSpPr>
        <p:spPr>
          <a:xfrm>
            <a:off x="609600" y="3352800"/>
            <a:ext cx="1841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BE99AE-56DA-363C-6BFE-5E1515EE27B5}"/>
              </a:ext>
            </a:extLst>
          </p:cNvPr>
          <p:cNvSpPr txBox="1"/>
          <p:nvPr/>
        </p:nvSpPr>
        <p:spPr>
          <a:xfrm>
            <a:off x="685800" y="3416300"/>
            <a:ext cx="1714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Issues / TASK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67FD97-7B59-D6F3-EB07-38C49258A294}"/>
              </a:ext>
            </a:extLst>
          </p:cNvPr>
          <p:cNvSpPr/>
          <p:nvPr/>
        </p:nvSpPr>
        <p:spPr>
          <a:xfrm>
            <a:off x="2451100" y="3352800"/>
            <a:ext cx="2476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B9558E-5E05-3AD7-EB4C-EB99F70F3AB6}"/>
              </a:ext>
            </a:extLst>
          </p:cNvPr>
          <p:cNvSpPr txBox="1"/>
          <p:nvPr/>
        </p:nvSpPr>
        <p:spPr>
          <a:xfrm>
            <a:off x="2527300" y="3416300"/>
            <a:ext cx="2349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问题记录、任务状态、附件、事件、链接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E21A0B-4725-5689-6201-126069AAF1BA}"/>
              </a:ext>
            </a:extLst>
          </p:cNvPr>
          <p:cNvSpPr/>
          <p:nvPr/>
        </p:nvSpPr>
        <p:spPr>
          <a:xfrm>
            <a:off x="4927600" y="3352800"/>
            <a:ext cx="3492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33A966-A9C9-2287-D077-BBFFDCAC0F02}"/>
              </a:ext>
            </a:extLst>
          </p:cNvPr>
          <p:cNvSpPr txBox="1"/>
          <p:nvPr/>
        </p:nvSpPr>
        <p:spPr>
          <a:xfrm>
            <a:off x="5003800" y="3416300"/>
            <a:ext cx="3365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支撑 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SUP.9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问题解决、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SUP.10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变更影响和项目执行闭环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F0B168-717D-D9EF-5BC0-457D32C324C4}"/>
              </a:ext>
            </a:extLst>
          </p:cNvPr>
          <p:cNvSpPr/>
          <p:nvPr/>
        </p:nvSpPr>
        <p:spPr>
          <a:xfrm>
            <a:off x="8420100" y="3352800"/>
            <a:ext cx="3111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1F03D5-F870-42ED-E5A9-8AF69882FB39}"/>
              </a:ext>
            </a:extLst>
          </p:cNvPr>
          <p:cNvSpPr txBox="1"/>
          <p:nvPr/>
        </p:nvSpPr>
        <p:spPr>
          <a:xfrm>
            <a:off x="8496300" y="3416300"/>
            <a:ext cx="2984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没有关联工作产品时只能作为项目支撑材料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9E7C0B1-4060-CFF7-29C9-822C4DC210F5}"/>
              </a:ext>
            </a:extLst>
          </p:cNvPr>
          <p:cNvSpPr/>
          <p:nvPr/>
        </p:nvSpPr>
        <p:spPr>
          <a:xfrm>
            <a:off x="609600" y="4089400"/>
            <a:ext cx="1841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F725A3-EC34-50D4-749B-2EB6755716D1}"/>
              </a:ext>
            </a:extLst>
          </p:cNvPr>
          <p:cNvSpPr txBox="1"/>
          <p:nvPr/>
        </p:nvSpPr>
        <p:spPr>
          <a:xfrm>
            <a:off x="685800" y="4152900"/>
            <a:ext cx="1714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标准库与提示词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2E2F50-2D01-84B5-B526-C2B8967F00FA}"/>
              </a:ext>
            </a:extLst>
          </p:cNvPr>
          <p:cNvSpPr/>
          <p:nvPr/>
        </p:nvSpPr>
        <p:spPr>
          <a:xfrm>
            <a:off x="2451100" y="4089400"/>
            <a:ext cx="2476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39E95C-1B32-3962-2749-D36DCD4D0073}"/>
              </a:ext>
            </a:extLst>
          </p:cNvPr>
          <p:cNvSpPr txBox="1"/>
          <p:nvPr/>
        </p:nvSpPr>
        <p:spPr>
          <a:xfrm>
            <a:off x="2527300" y="4152900"/>
            <a:ext cx="2349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PAM 4.0、Guideline、</a:t>
            </a:r>
            <a:r>
              <a:rPr lang="ja-JP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工作产物清单、模块 </a:t>
            </a:r>
            <a:r>
              <a:rPr 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prompt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A2ED21F-C4F4-E044-EF95-2660F715BEE5}"/>
              </a:ext>
            </a:extLst>
          </p:cNvPr>
          <p:cNvSpPr/>
          <p:nvPr/>
        </p:nvSpPr>
        <p:spPr>
          <a:xfrm>
            <a:off x="4927600" y="4089400"/>
            <a:ext cx="3492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65D51E-93D6-A134-0878-0D14E2D06156}"/>
              </a:ext>
            </a:extLst>
          </p:cNvPr>
          <p:cNvSpPr txBox="1"/>
          <p:nvPr/>
        </p:nvSpPr>
        <p:spPr>
          <a:xfrm>
            <a:off x="5003800" y="4152900"/>
            <a:ext cx="3365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给 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提供判据、期望工作产物和输出格式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9A4286-D5A6-C68C-F2B8-AC97D30E9794}"/>
              </a:ext>
            </a:extLst>
          </p:cNvPr>
          <p:cNvSpPr/>
          <p:nvPr/>
        </p:nvSpPr>
        <p:spPr>
          <a:xfrm>
            <a:off x="8420100" y="4089400"/>
            <a:ext cx="3111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E874AA-71B6-D3EE-1358-81854E7A27DE}"/>
              </a:ext>
            </a:extLst>
          </p:cNvPr>
          <p:cNvSpPr txBox="1"/>
          <p:nvPr/>
        </p:nvSpPr>
        <p:spPr>
          <a:xfrm>
            <a:off x="8496300" y="4152900"/>
            <a:ext cx="2984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不能被当作项目实际证据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F7D75D6-5DC4-576B-D42B-7E12F0E6F898}"/>
              </a:ext>
            </a:extLst>
          </p:cNvPr>
          <p:cNvSpPr/>
          <p:nvPr/>
        </p:nvSpPr>
        <p:spPr>
          <a:xfrm>
            <a:off x="609600" y="4826000"/>
            <a:ext cx="1841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B613DE-B2D4-B51B-D132-938E848EEEDA}"/>
              </a:ext>
            </a:extLst>
          </p:cNvPr>
          <p:cNvSpPr txBox="1"/>
          <p:nvPr/>
        </p:nvSpPr>
        <p:spPr>
          <a:xfrm>
            <a:off x="685800" y="4889500"/>
            <a:ext cx="1714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人工锁定范围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577F22-81F5-ADBF-0C5A-7F13D9A49322}"/>
              </a:ext>
            </a:extLst>
          </p:cNvPr>
          <p:cNvSpPr/>
          <p:nvPr/>
        </p:nvSpPr>
        <p:spPr>
          <a:xfrm>
            <a:off x="2451100" y="4826000"/>
            <a:ext cx="2476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52A656-691C-5A38-4486-52DF23E62B1B}"/>
              </a:ext>
            </a:extLst>
          </p:cNvPr>
          <p:cNvSpPr txBox="1"/>
          <p:nvPr/>
        </p:nvSpPr>
        <p:spPr>
          <a:xfrm>
            <a:off x="2527300" y="4889500"/>
            <a:ext cx="2349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主过程域、关联过程域、补充发现证据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24E049F-5910-B3A9-CE33-513651E07C2A}"/>
              </a:ext>
            </a:extLst>
          </p:cNvPr>
          <p:cNvSpPr/>
          <p:nvPr/>
        </p:nvSpPr>
        <p:spPr>
          <a:xfrm>
            <a:off x="4927600" y="4826000"/>
            <a:ext cx="3492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A0310F-EF4F-647C-AFCF-AAF5E02CF7DD}"/>
              </a:ext>
            </a:extLst>
          </p:cNvPr>
          <p:cNvSpPr txBox="1"/>
          <p:nvPr/>
        </p:nvSpPr>
        <p:spPr>
          <a:xfrm>
            <a:off x="5003800" y="4889500"/>
            <a:ext cx="3365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限制 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只针对选中范围出结论和评分候选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79F3BCE-CD02-5AB9-6B8F-84BF3CF5B90E}"/>
              </a:ext>
            </a:extLst>
          </p:cNvPr>
          <p:cNvSpPr/>
          <p:nvPr/>
        </p:nvSpPr>
        <p:spPr>
          <a:xfrm>
            <a:off x="8420100" y="4826000"/>
            <a:ext cx="31115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1CE5C3-0A60-8985-4F7E-1EF964C09F79}"/>
              </a:ext>
            </a:extLst>
          </p:cNvPr>
          <p:cNvSpPr txBox="1"/>
          <p:nvPr/>
        </p:nvSpPr>
        <p:spPr>
          <a:xfrm>
            <a:off x="8496300" y="4889500"/>
            <a:ext cx="29845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未选择的域不做最终评分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36CFBB-E7BE-0026-9D8E-23FE03681D25}"/>
              </a:ext>
            </a:extLst>
          </p:cNvPr>
          <p:cNvSpPr txBox="1"/>
          <p:nvPr/>
        </p:nvSpPr>
        <p:spPr>
          <a:xfrm>
            <a:off x="863600" y="5918200"/>
            <a:ext cx="10414000" cy="23596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打分逻辑：先建立证据边界，再由 </a:t>
            </a:r>
            <a:r>
              <a:rPr lang="en-US" altLang="zh-CN" sz="1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zh-CN" altLang="en-US" sz="1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针对选中过程域输出建议和 </a:t>
            </a:r>
            <a:r>
              <a:rPr lang="en-US" altLang="zh-CN" sz="1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BP/GP </a:t>
            </a:r>
            <a:r>
              <a:rPr lang="zh-CN" altLang="en-US" sz="1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候选；本地规则只作为线索，不直接覆盖审核员判断。</a:t>
            </a:r>
            <a:endParaRPr lang="en-US" sz="12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0088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4D65E6-146E-DA23-4BDE-D1F374184473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EA95F5-05C8-7021-7AF2-7AAD6D434407}"/>
              </a:ext>
            </a:extLst>
          </p:cNvPr>
          <p:cNvSpPr/>
          <p:nvPr/>
        </p:nvSpPr>
        <p:spPr>
          <a:xfrm>
            <a:off x="0" y="0"/>
            <a:ext cx="203200" cy="812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0EC80D-B916-6D95-F558-0979041EE30C}"/>
              </a:ext>
            </a:extLst>
          </p:cNvPr>
          <p:cNvSpPr txBox="1"/>
          <p:nvPr/>
        </p:nvSpPr>
        <p:spPr>
          <a:xfrm>
            <a:off x="431800" y="152400"/>
            <a:ext cx="8255000" cy="38985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zh-CN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审核页：完整证据输入后再输出评分候选</a:t>
            </a:r>
            <a:endParaRPr lang="en-US" sz="22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12FF2-E1C8-A0C3-EE67-E61C0FC0DAD3}"/>
              </a:ext>
            </a:extLst>
          </p:cNvPr>
          <p:cNvSpPr txBox="1"/>
          <p:nvPr/>
        </p:nvSpPr>
        <p:spPr>
          <a:xfrm>
            <a:off x="457200" y="533400"/>
            <a:ext cx="88900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Structured review output and process-domain scoping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3E2A1-2CBF-5DCC-0E96-B36099FD61E6}"/>
              </a:ext>
            </a:extLst>
          </p:cNvPr>
          <p:cNvSpPr txBox="1"/>
          <p:nvPr/>
        </p:nvSpPr>
        <p:spPr>
          <a:xfrm>
            <a:off x="10363200" y="215900"/>
            <a:ext cx="14732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AI Workbench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87CC7-8CCF-98D0-A385-58A36464B783}"/>
              </a:ext>
            </a:extLst>
          </p:cNvPr>
          <p:cNvSpPr txBox="1"/>
          <p:nvPr/>
        </p:nvSpPr>
        <p:spPr>
          <a:xfrm>
            <a:off x="457200" y="6553200"/>
            <a:ext cx="58420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Confidential | aspice-audit-master Helix linked edition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AAD16-A6A5-0790-0436-686208BC64D7}"/>
              </a:ext>
            </a:extLst>
          </p:cNvPr>
          <p:cNvSpPr txBox="1"/>
          <p:nvPr/>
        </p:nvSpPr>
        <p:spPr>
          <a:xfrm>
            <a:off x="10795000" y="6553200"/>
            <a:ext cx="9906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Page 7 / 10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8DEA7B-31F4-70A6-9920-A8CEDAF8F16B}"/>
              </a:ext>
            </a:extLst>
          </p:cNvPr>
          <p:cNvSpPr/>
          <p:nvPr/>
        </p:nvSpPr>
        <p:spPr>
          <a:xfrm>
            <a:off x="736600" y="14224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D6AE63-7236-BB9C-8B12-4DC9A91F7CA0}"/>
              </a:ext>
            </a:extLst>
          </p:cNvPr>
          <p:cNvSpPr/>
          <p:nvPr/>
        </p:nvSpPr>
        <p:spPr>
          <a:xfrm>
            <a:off x="889000" y="1549400"/>
            <a:ext cx="355600" cy="355600"/>
          </a:xfrm>
          <a:prstGeom prst="ellipse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88E0E8-9AAB-3E49-BD61-2827300241A0}"/>
              </a:ext>
            </a:extLst>
          </p:cNvPr>
          <p:cNvSpPr txBox="1"/>
          <p:nvPr/>
        </p:nvSpPr>
        <p:spPr>
          <a:xfrm>
            <a:off x="901700" y="16129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2C1DA8-FBFA-7CD1-F62F-BE8C57FEF969}"/>
              </a:ext>
            </a:extLst>
          </p:cNvPr>
          <p:cNvSpPr txBox="1"/>
          <p:nvPr/>
        </p:nvSpPr>
        <p:spPr>
          <a:xfrm>
            <a:off x="1346200" y="15748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证据包</a:t>
            </a:r>
            <a:endParaRPr lang="en-US" sz="11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97A4F5-3E4F-B69E-7043-B39C0CE70755}"/>
              </a:ext>
            </a:extLst>
          </p:cNvPr>
          <p:cNvSpPr txBox="1"/>
          <p:nvPr/>
        </p:nvSpPr>
        <p:spPr>
          <a:xfrm>
            <a:off x="914400" y="19812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上传文件 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 Helix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选中对象 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快照摘要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61011A-3FDE-C818-6F35-BF0FDE7021A3}"/>
              </a:ext>
            </a:extLst>
          </p:cNvPr>
          <p:cNvCxnSpPr/>
          <p:nvPr/>
        </p:nvCxnSpPr>
        <p:spPr>
          <a:xfrm>
            <a:off x="2311400" y="2006600"/>
            <a:ext cx="4572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11E33D-0FC0-A9B1-4937-76B97D33B20F}"/>
              </a:ext>
            </a:extLst>
          </p:cNvPr>
          <p:cNvSpPr/>
          <p:nvPr/>
        </p:nvSpPr>
        <p:spPr>
          <a:xfrm>
            <a:off x="2870200" y="14224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935E5F-4293-CBCD-DDB8-78EC0865689C}"/>
              </a:ext>
            </a:extLst>
          </p:cNvPr>
          <p:cNvSpPr/>
          <p:nvPr/>
        </p:nvSpPr>
        <p:spPr>
          <a:xfrm>
            <a:off x="3022600" y="1549400"/>
            <a:ext cx="355600" cy="355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8C7EA4-9846-7AE4-BCE1-24ED903336C8}"/>
              </a:ext>
            </a:extLst>
          </p:cNvPr>
          <p:cNvSpPr txBox="1"/>
          <p:nvPr/>
        </p:nvSpPr>
        <p:spPr>
          <a:xfrm>
            <a:off x="3035300" y="16129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18FA6-27C6-BB60-57D6-ECB3591F5607}"/>
              </a:ext>
            </a:extLst>
          </p:cNvPr>
          <p:cNvSpPr txBox="1"/>
          <p:nvPr/>
        </p:nvSpPr>
        <p:spPr>
          <a:xfrm>
            <a:off x="3479800" y="15748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范围锁定</a:t>
            </a:r>
            <a:endParaRPr lang="en-US" sz="11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8B3D57-A82D-0F65-FDFA-B1AE94640BA3}"/>
              </a:ext>
            </a:extLst>
          </p:cNvPr>
          <p:cNvSpPr txBox="1"/>
          <p:nvPr/>
        </p:nvSpPr>
        <p:spPr>
          <a:xfrm>
            <a:off x="3048000" y="19812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主过程域 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关联过程域 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人工补充发现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E5DF56F-6AD4-425B-40F1-7D1F6B3E0C94}"/>
              </a:ext>
            </a:extLst>
          </p:cNvPr>
          <p:cNvCxnSpPr/>
          <p:nvPr/>
        </p:nvCxnSpPr>
        <p:spPr>
          <a:xfrm>
            <a:off x="4445000" y="2006600"/>
            <a:ext cx="4572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DDB9E79-1CB3-F3C8-A280-57CE7649E319}"/>
              </a:ext>
            </a:extLst>
          </p:cNvPr>
          <p:cNvSpPr/>
          <p:nvPr/>
        </p:nvSpPr>
        <p:spPr>
          <a:xfrm>
            <a:off x="5003800" y="14224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F9532DB-D7F3-8BCB-F006-9C143F4309B0}"/>
              </a:ext>
            </a:extLst>
          </p:cNvPr>
          <p:cNvSpPr/>
          <p:nvPr/>
        </p:nvSpPr>
        <p:spPr>
          <a:xfrm>
            <a:off x="5156200" y="1549400"/>
            <a:ext cx="355600" cy="3556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7FB39A-A645-3995-046C-36B79F62BFB1}"/>
              </a:ext>
            </a:extLst>
          </p:cNvPr>
          <p:cNvSpPr txBox="1"/>
          <p:nvPr/>
        </p:nvSpPr>
        <p:spPr>
          <a:xfrm>
            <a:off x="5168900" y="16129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EEE7A-1614-6C35-4123-4F3716356A4A}"/>
              </a:ext>
            </a:extLst>
          </p:cNvPr>
          <p:cNvSpPr txBox="1"/>
          <p:nvPr/>
        </p:nvSpPr>
        <p:spPr>
          <a:xfrm>
            <a:off x="5613400" y="15748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规则基线</a:t>
            </a:r>
            <a:endParaRPr lang="en-US" sz="11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8C7502-A340-9FCD-6EAF-42C8AD7FA062}"/>
              </a:ext>
            </a:extLst>
          </p:cNvPr>
          <p:cNvSpPr txBox="1"/>
          <p:nvPr/>
        </p:nvSpPr>
        <p:spPr>
          <a:xfrm>
            <a:off x="5181600" y="19812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4.0 BP/GP、</a:t>
            </a:r>
            <a:r>
              <a:rPr lang="ja-JP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工作产物、</a:t>
            </a:r>
            <a:r>
              <a:rPr 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SUP </a:t>
            </a:r>
            <a:r>
              <a:rPr lang="ja-JP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闭环清单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005BC80-D9AC-40B4-1ACB-4E29C83A7004}"/>
              </a:ext>
            </a:extLst>
          </p:cNvPr>
          <p:cNvCxnSpPr/>
          <p:nvPr/>
        </p:nvCxnSpPr>
        <p:spPr>
          <a:xfrm>
            <a:off x="6578600" y="2006600"/>
            <a:ext cx="4572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F07B711-D570-6E7E-811E-300CF3CBF446}"/>
              </a:ext>
            </a:extLst>
          </p:cNvPr>
          <p:cNvSpPr/>
          <p:nvPr/>
        </p:nvSpPr>
        <p:spPr>
          <a:xfrm>
            <a:off x="7137400" y="14224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ED55933-9669-A90C-46B7-A7C96A51A924}"/>
              </a:ext>
            </a:extLst>
          </p:cNvPr>
          <p:cNvSpPr/>
          <p:nvPr/>
        </p:nvSpPr>
        <p:spPr>
          <a:xfrm>
            <a:off x="7289800" y="1549400"/>
            <a:ext cx="355600" cy="3556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77D3E5-4550-0626-6B21-EA8D03F444A2}"/>
              </a:ext>
            </a:extLst>
          </p:cNvPr>
          <p:cNvSpPr txBox="1"/>
          <p:nvPr/>
        </p:nvSpPr>
        <p:spPr>
          <a:xfrm>
            <a:off x="7302500" y="16129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AEB008-AB04-1806-21B6-928423B9E258}"/>
              </a:ext>
            </a:extLst>
          </p:cNvPr>
          <p:cNvSpPr txBox="1"/>
          <p:nvPr/>
        </p:nvSpPr>
        <p:spPr>
          <a:xfrm>
            <a:off x="7747000" y="1574800"/>
            <a:ext cx="787400" cy="38985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分析</a:t>
            </a:r>
            <a:endParaRPr lang="en-US" sz="11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F2D458-8E1C-B3C7-B20B-D1459CF12854}"/>
              </a:ext>
            </a:extLst>
          </p:cNvPr>
          <p:cNvSpPr txBox="1"/>
          <p:nvPr/>
        </p:nvSpPr>
        <p:spPr>
          <a:xfrm>
            <a:off x="7315200" y="19812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分析依据、文件依赖、项目问题点、关闭计划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22B0D6E-AFCD-8504-C748-7BD273019103}"/>
              </a:ext>
            </a:extLst>
          </p:cNvPr>
          <p:cNvCxnSpPr/>
          <p:nvPr/>
        </p:nvCxnSpPr>
        <p:spPr>
          <a:xfrm>
            <a:off x="8712200" y="2006600"/>
            <a:ext cx="4572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A590E06-A64D-558C-CAEA-D29220982463}"/>
              </a:ext>
            </a:extLst>
          </p:cNvPr>
          <p:cNvSpPr/>
          <p:nvPr/>
        </p:nvSpPr>
        <p:spPr>
          <a:xfrm>
            <a:off x="9271000" y="14224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45E5AF5-D2E7-1EAB-FB2F-69ACB550697D}"/>
              </a:ext>
            </a:extLst>
          </p:cNvPr>
          <p:cNvSpPr/>
          <p:nvPr/>
        </p:nvSpPr>
        <p:spPr>
          <a:xfrm>
            <a:off x="9423400" y="1549400"/>
            <a:ext cx="355600" cy="355600"/>
          </a:xfrm>
          <a:prstGeom prst="ellipse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A013FC-6FC2-DD81-EAE3-BF42316DE25A}"/>
              </a:ext>
            </a:extLst>
          </p:cNvPr>
          <p:cNvSpPr txBox="1"/>
          <p:nvPr/>
        </p:nvSpPr>
        <p:spPr>
          <a:xfrm>
            <a:off x="9436100" y="16129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7C479A-FE31-5E27-E43D-3A64B730672E}"/>
              </a:ext>
            </a:extLst>
          </p:cNvPr>
          <p:cNvSpPr txBox="1"/>
          <p:nvPr/>
        </p:nvSpPr>
        <p:spPr>
          <a:xfrm>
            <a:off x="9880600" y="15748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评分与报告</a:t>
            </a:r>
            <a:endParaRPr lang="en-US" sz="11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27ED86-ED74-6A5E-5CFB-A5C234038FA0}"/>
              </a:ext>
            </a:extLst>
          </p:cNvPr>
          <p:cNvSpPr txBox="1"/>
          <p:nvPr/>
        </p:nvSpPr>
        <p:spPr>
          <a:xfrm>
            <a:off x="9448800" y="19812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BP/GP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候选、最终过程域建议、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PDF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报告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242E872-E161-C137-BBB3-9507125C6104}"/>
              </a:ext>
            </a:extLst>
          </p:cNvPr>
          <p:cNvSpPr/>
          <p:nvPr/>
        </p:nvSpPr>
        <p:spPr>
          <a:xfrm>
            <a:off x="812800" y="3429000"/>
            <a:ext cx="4953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E66B2B-5BAE-3464-4164-7EA526DDB13D}"/>
              </a:ext>
            </a:extLst>
          </p:cNvPr>
          <p:cNvSpPr/>
          <p:nvPr/>
        </p:nvSpPr>
        <p:spPr>
          <a:xfrm>
            <a:off x="812800" y="3429000"/>
            <a:ext cx="76200" cy="2159000"/>
          </a:xfrm>
          <a:prstGeom prst="rect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FE5B7C-C356-2392-E1B9-5CCAAFE7A8AF}"/>
              </a:ext>
            </a:extLst>
          </p:cNvPr>
          <p:cNvSpPr txBox="1"/>
          <p:nvPr/>
        </p:nvSpPr>
        <p:spPr>
          <a:xfrm>
            <a:off x="1016000" y="3581400"/>
            <a:ext cx="46482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ja-JP" alt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输出结构</a:t>
            </a:r>
            <a:endParaRPr lang="en-US" sz="15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151907-C847-B3EF-D083-1EAD7AEA2DF9}"/>
              </a:ext>
            </a:extLst>
          </p:cNvPr>
          <p:cNvSpPr txBox="1"/>
          <p:nvPr/>
        </p:nvSpPr>
        <p:spPr>
          <a:xfrm>
            <a:off x="1016000" y="3962400"/>
            <a:ext cx="4622800" cy="66684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结论、分析依据、范围锁定、手动范围与文件依赖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过程域审核建议、审核员问题与项目问题点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关联过程影响、关闭证据计划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BP/GP Codex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参考评分候选、最终过程域评分、证据边界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C62CD8F-F803-2A0A-B236-A2C24CEBBCBE}"/>
              </a:ext>
            </a:extLst>
          </p:cNvPr>
          <p:cNvSpPr/>
          <p:nvPr/>
        </p:nvSpPr>
        <p:spPr>
          <a:xfrm>
            <a:off x="6426200" y="3429000"/>
            <a:ext cx="4953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4FD235-05F8-935A-CDC8-8DAB18BD9B11}"/>
              </a:ext>
            </a:extLst>
          </p:cNvPr>
          <p:cNvSpPr/>
          <p:nvPr/>
        </p:nvSpPr>
        <p:spPr>
          <a:xfrm>
            <a:off x="6426200" y="3429000"/>
            <a:ext cx="76200" cy="2159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157DE4-ADF9-6F13-14CA-BFF84C37F48F}"/>
              </a:ext>
            </a:extLst>
          </p:cNvPr>
          <p:cNvSpPr txBox="1"/>
          <p:nvPr/>
        </p:nvSpPr>
        <p:spPr>
          <a:xfrm>
            <a:off x="6629400" y="3581400"/>
            <a:ext cx="46482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关键修正</a:t>
            </a:r>
            <a:endParaRPr lang="en-US" sz="15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D802F5-9515-56B3-BAF5-6EC88E8B1E83}"/>
              </a:ext>
            </a:extLst>
          </p:cNvPr>
          <p:cNvSpPr txBox="1"/>
          <p:nvPr/>
        </p:nvSpPr>
        <p:spPr>
          <a:xfrm>
            <a:off x="6629400" y="3962400"/>
            <a:ext cx="4622800" cy="66684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ASPICE BP/GP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评分候选放在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回答之后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只对用户勾选的主过程域和关联过程域给最终报告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中文界面下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建议页和默认文案全部中文展示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多需求文件时重点分析依赖关系、追溯和缺失配置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777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4F825C-8252-FF9E-3D37-97A7771AFCC5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238B0-E8A6-5B99-DD2C-99565C0F17B0}"/>
              </a:ext>
            </a:extLst>
          </p:cNvPr>
          <p:cNvSpPr/>
          <p:nvPr/>
        </p:nvSpPr>
        <p:spPr>
          <a:xfrm>
            <a:off x="0" y="0"/>
            <a:ext cx="203200" cy="812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0DDD1-6100-C15B-7202-CCAD36B696D4}"/>
              </a:ext>
            </a:extLst>
          </p:cNvPr>
          <p:cNvSpPr txBox="1"/>
          <p:nvPr/>
        </p:nvSpPr>
        <p:spPr>
          <a:xfrm>
            <a:off x="431800" y="152400"/>
            <a:ext cx="8255000" cy="38985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对审核员的帮助：从找资料到形成可追溯问题清单</a:t>
            </a:r>
            <a:endParaRPr lang="en-US" sz="22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A86D9-7BA4-F80B-4111-CC09E07CC33D}"/>
              </a:ext>
            </a:extLst>
          </p:cNvPr>
          <p:cNvSpPr txBox="1"/>
          <p:nvPr/>
        </p:nvSpPr>
        <p:spPr>
          <a:xfrm>
            <a:off x="457200" y="533400"/>
            <a:ext cx="88900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Practical support before an ASPICE assessment meeting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5A68D-F3AC-99E8-DFAB-D23C87F64FA1}"/>
              </a:ext>
            </a:extLst>
          </p:cNvPr>
          <p:cNvSpPr txBox="1"/>
          <p:nvPr/>
        </p:nvSpPr>
        <p:spPr>
          <a:xfrm>
            <a:off x="10363200" y="215900"/>
            <a:ext cx="14732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AI Workbench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38FE7-5250-CFC7-491D-86EBC6013C65}"/>
              </a:ext>
            </a:extLst>
          </p:cNvPr>
          <p:cNvSpPr txBox="1"/>
          <p:nvPr/>
        </p:nvSpPr>
        <p:spPr>
          <a:xfrm>
            <a:off x="457200" y="6553200"/>
            <a:ext cx="58420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Confidential | aspice-audit-master Helix linked edition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8BA1FD-1468-BA33-FA2C-6793982B39CB}"/>
              </a:ext>
            </a:extLst>
          </p:cNvPr>
          <p:cNvSpPr txBox="1"/>
          <p:nvPr/>
        </p:nvSpPr>
        <p:spPr>
          <a:xfrm>
            <a:off x="10795000" y="6553200"/>
            <a:ext cx="9906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Page 8 / 10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EC03C7-BBD7-1D89-A1D2-0AB8A8548E24}"/>
              </a:ext>
            </a:extLst>
          </p:cNvPr>
          <p:cNvSpPr/>
          <p:nvPr/>
        </p:nvSpPr>
        <p:spPr>
          <a:xfrm>
            <a:off x="609600" y="1320800"/>
            <a:ext cx="330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AABDE-1F0F-B95A-4AB1-4A3E129C7022}"/>
              </a:ext>
            </a:extLst>
          </p:cNvPr>
          <p:cNvSpPr/>
          <p:nvPr/>
        </p:nvSpPr>
        <p:spPr>
          <a:xfrm>
            <a:off x="609600" y="1320800"/>
            <a:ext cx="76200" cy="1905000"/>
          </a:xfrm>
          <a:prstGeom prst="rect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1CAFF-E441-5696-28C6-B2686E81814F}"/>
              </a:ext>
            </a:extLst>
          </p:cNvPr>
          <p:cNvSpPr txBox="1"/>
          <p:nvPr/>
        </p:nvSpPr>
        <p:spPr>
          <a:xfrm>
            <a:off x="812800" y="1473200"/>
            <a:ext cx="29972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过程域定位</a:t>
            </a:r>
            <a:endParaRPr lang="en-US" sz="15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43D9A2-3BAD-D16D-7C65-96F34AF72A38}"/>
              </a:ext>
            </a:extLst>
          </p:cNvPr>
          <p:cNvSpPr txBox="1"/>
          <p:nvPr/>
        </p:nvSpPr>
        <p:spPr>
          <a:xfrm>
            <a:off x="812800" y="1854200"/>
            <a:ext cx="2971800" cy="5129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ja-JP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识别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SYS.1/SYS.2/SWE.1/SUP.8/SUP.9/SUP.10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等域</a:t>
            </a:r>
          </a:p>
          <a:p>
            <a:r>
              <a:rPr lang="en-US" altLang="ja-JP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允许审核员手动锁定分析范围，减少误判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31FB4C-F706-65B0-515D-D2279614B571}"/>
              </a:ext>
            </a:extLst>
          </p:cNvPr>
          <p:cNvSpPr/>
          <p:nvPr/>
        </p:nvSpPr>
        <p:spPr>
          <a:xfrm>
            <a:off x="4445000" y="1320800"/>
            <a:ext cx="330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7A2D6A-7A6E-EBE4-CB77-7DBA1F5474A8}"/>
              </a:ext>
            </a:extLst>
          </p:cNvPr>
          <p:cNvSpPr/>
          <p:nvPr/>
        </p:nvSpPr>
        <p:spPr>
          <a:xfrm>
            <a:off x="4445000" y="1320800"/>
            <a:ext cx="76200" cy="190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09D750-BF59-3CEC-20AC-2E9E0D1A9265}"/>
              </a:ext>
            </a:extLst>
          </p:cNvPr>
          <p:cNvSpPr txBox="1"/>
          <p:nvPr/>
        </p:nvSpPr>
        <p:spPr>
          <a:xfrm>
            <a:off x="4648200" y="1473200"/>
            <a:ext cx="29972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证据链完整性</a:t>
            </a:r>
            <a:endParaRPr lang="en-US" sz="15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2C1F65-9038-77D4-3ED3-89BC2F7495CA}"/>
              </a:ext>
            </a:extLst>
          </p:cNvPr>
          <p:cNvSpPr txBox="1"/>
          <p:nvPr/>
        </p:nvSpPr>
        <p:spPr>
          <a:xfrm>
            <a:off x="4648200" y="1854200"/>
            <a:ext cx="2971800" cy="3590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检查需求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ID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、状态、评审、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baseline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、链接和附件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把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工作流状态与上传规格书交叉验证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0674CAB-DD09-8BDC-18C3-F00252D30B85}"/>
              </a:ext>
            </a:extLst>
          </p:cNvPr>
          <p:cNvSpPr/>
          <p:nvPr/>
        </p:nvSpPr>
        <p:spPr>
          <a:xfrm>
            <a:off x="8280400" y="1320800"/>
            <a:ext cx="330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5292BA-E750-18C2-9D1A-C8E9E4B23C6C}"/>
              </a:ext>
            </a:extLst>
          </p:cNvPr>
          <p:cNvSpPr/>
          <p:nvPr/>
        </p:nvSpPr>
        <p:spPr>
          <a:xfrm>
            <a:off x="8280400" y="1320800"/>
            <a:ext cx="76200" cy="1905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B468ED-C5DF-1939-1370-6B0B476D690E}"/>
              </a:ext>
            </a:extLst>
          </p:cNvPr>
          <p:cNvSpPr txBox="1"/>
          <p:nvPr/>
        </p:nvSpPr>
        <p:spPr>
          <a:xfrm>
            <a:off x="8483600" y="1473200"/>
            <a:ext cx="29972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闭环问题发现</a:t>
            </a:r>
            <a:endParaRPr lang="en-US" sz="15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E221DF-EE48-22D6-5C5F-2633A43EF687}"/>
              </a:ext>
            </a:extLst>
          </p:cNvPr>
          <p:cNvSpPr txBox="1"/>
          <p:nvPr/>
        </p:nvSpPr>
        <p:spPr>
          <a:xfrm>
            <a:off x="8483600" y="1854200"/>
            <a:ext cx="2971800" cy="512961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突出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SUP.8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配置、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SUP.9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问题解决、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SUP.10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变更管理断点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把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Issues/TASK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作为支撑材料纳入问题清单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5C01C8B-1D4A-C88D-04E6-D948F9D6160D}"/>
              </a:ext>
            </a:extLst>
          </p:cNvPr>
          <p:cNvSpPr/>
          <p:nvPr/>
        </p:nvSpPr>
        <p:spPr>
          <a:xfrm>
            <a:off x="609600" y="3657600"/>
            <a:ext cx="330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E0ECC8-10D6-0BDA-EE85-9B37E22AE564}"/>
              </a:ext>
            </a:extLst>
          </p:cNvPr>
          <p:cNvSpPr/>
          <p:nvPr/>
        </p:nvSpPr>
        <p:spPr>
          <a:xfrm>
            <a:off x="609600" y="3657600"/>
            <a:ext cx="76200" cy="19050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32438A-05E2-04DB-BBED-D9F6B7DC8173}"/>
              </a:ext>
            </a:extLst>
          </p:cNvPr>
          <p:cNvSpPr txBox="1"/>
          <p:nvPr/>
        </p:nvSpPr>
        <p:spPr>
          <a:xfrm>
            <a:off x="812800" y="3810000"/>
            <a:ext cx="29972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BP/GP </a:t>
            </a:r>
            <a:r>
              <a:rPr lang="ja-JP" alt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候选评分</a:t>
            </a:r>
            <a:endParaRPr lang="en-US" sz="15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AF7909-8127-234D-9D91-FD92AA7283A3}"/>
              </a:ext>
            </a:extLst>
          </p:cNvPr>
          <p:cNvSpPr txBox="1"/>
          <p:nvPr/>
        </p:nvSpPr>
        <p:spPr>
          <a:xfrm>
            <a:off x="812800" y="4191000"/>
            <a:ext cx="2971800" cy="3590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基于完整证据包生成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N/P/L/F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候选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展示证据、缺口和期望关闭证明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DF616B4-CF99-FA07-F898-D587E688FBF6}"/>
              </a:ext>
            </a:extLst>
          </p:cNvPr>
          <p:cNvSpPr/>
          <p:nvPr/>
        </p:nvSpPr>
        <p:spPr>
          <a:xfrm>
            <a:off x="4445000" y="3657600"/>
            <a:ext cx="330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AA5E3F-C554-132A-8AA6-66A73DF81C2A}"/>
              </a:ext>
            </a:extLst>
          </p:cNvPr>
          <p:cNvSpPr/>
          <p:nvPr/>
        </p:nvSpPr>
        <p:spPr>
          <a:xfrm>
            <a:off x="4445000" y="3657600"/>
            <a:ext cx="76200" cy="1905000"/>
          </a:xfrm>
          <a:prstGeom prst="rect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A09943-AEC6-727E-A8C2-F7B9E8073299}"/>
              </a:ext>
            </a:extLst>
          </p:cNvPr>
          <p:cNvSpPr txBox="1"/>
          <p:nvPr/>
        </p:nvSpPr>
        <p:spPr>
          <a:xfrm>
            <a:off x="4648200" y="3810000"/>
            <a:ext cx="29972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正式输出</a:t>
            </a:r>
            <a:endParaRPr lang="en-US" sz="15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BD02D0-04AD-F246-F86B-158310402D62}"/>
              </a:ext>
            </a:extLst>
          </p:cNvPr>
          <p:cNvSpPr txBox="1"/>
          <p:nvPr/>
        </p:nvSpPr>
        <p:spPr>
          <a:xfrm>
            <a:off x="4648200" y="4191000"/>
            <a:ext cx="2971800" cy="3590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导出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PDF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报告，包含打分、证据和改进建议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适合评审会、整改跟踪和内部预审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1C3CE28-DB92-ED77-5DAB-4EAB4E0D981D}"/>
              </a:ext>
            </a:extLst>
          </p:cNvPr>
          <p:cNvSpPr/>
          <p:nvPr/>
        </p:nvSpPr>
        <p:spPr>
          <a:xfrm>
            <a:off x="8280400" y="3657600"/>
            <a:ext cx="330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52D341-DDC3-515A-A09C-D2BA3AC0F226}"/>
              </a:ext>
            </a:extLst>
          </p:cNvPr>
          <p:cNvSpPr/>
          <p:nvPr/>
        </p:nvSpPr>
        <p:spPr>
          <a:xfrm>
            <a:off x="8280400" y="3657600"/>
            <a:ext cx="76200" cy="1905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CE4AC2-764F-EC6E-BF2B-D4F590E88479}"/>
              </a:ext>
            </a:extLst>
          </p:cNvPr>
          <p:cNvSpPr txBox="1"/>
          <p:nvPr/>
        </p:nvSpPr>
        <p:spPr>
          <a:xfrm>
            <a:off x="8483600" y="3810000"/>
            <a:ext cx="29972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协作效率</a:t>
            </a:r>
            <a:endParaRPr lang="en-US" sz="15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96211C-958F-485C-B62D-990CA291B6FE}"/>
              </a:ext>
            </a:extLst>
          </p:cNvPr>
          <p:cNvSpPr txBox="1"/>
          <p:nvPr/>
        </p:nvSpPr>
        <p:spPr>
          <a:xfrm>
            <a:off x="8483600" y="4191000"/>
            <a:ext cx="2971800" cy="3590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同一页面保存项目、文件和历史记录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审核员可以补充发现证据并关联依赖模块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62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79C348-E4D6-7DC8-4A4F-907AF7D7E025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477C77-6BAE-1F82-FCD4-B29BFF96FDC7}"/>
              </a:ext>
            </a:extLst>
          </p:cNvPr>
          <p:cNvSpPr/>
          <p:nvPr/>
        </p:nvSpPr>
        <p:spPr>
          <a:xfrm>
            <a:off x="0" y="0"/>
            <a:ext cx="203200" cy="812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5F2F3-69D4-2886-9950-72B94D2F5E3F}"/>
              </a:ext>
            </a:extLst>
          </p:cNvPr>
          <p:cNvSpPr txBox="1"/>
          <p:nvPr/>
        </p:nvSpPr>
        <p:spPr>
          <a:xfrm>
            <a:off x="431800" y="152400"/>
            <a:ext cx="8255000" cy="38985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参考资料与本地验证</a:t>
            </a:r>
            <a:endParaRPr lang="en-US" sz="22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1A55F-3D8E-F334-59F5-BCD2CCEEE1D2}"/>
              </a:ext>
            </a:extLst>
          </p:cNvPr>
          <p:cNvSpPr txBox="1"/>
          <p:nvPr/>
        </p:nvSpPr>
        <p:spPr>
          <a:xfrm>
            <a:off x="457200" y="533400"/>
            <a:ext cx="88900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Sources used for the latest design and what has been validated locally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DDC030-60EE-C0D2-F1AD-A5A10A9D90BE}"/>
              </a:ext>
            </a:extLst>
          </p:cNvPr>
          <p:cNvSpPr txBox="1"/>
          <p:nvPr/>
        </p:nvSpPr>
        <p:spPr>
          <a:xfrm>
            <a:off x="10363200" y="215900"/>
            <a:ext cx="14732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AI Workbench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CBEBE-814C-D545-E893-C9A22A98F06E}"/>
              </a:ext>
            </a:extLst>
          </p:cNvPr>
          <p:cNvSpPr txBox="1"/>
          <p:nvPr/>
        </p:nvSpPr>
        <p:spPr>
          <a:xfrm>
            <a:off x="457200" y="6553200"/>
            <a:ext cx="58420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Confidential | aspice-audit-master Helix linked edition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F2BC7-7424-59EE-C57F-17D74769040D}"/>
              </a:ext>
            </a:extLst>
          </p:cNvPr>
          <p:cNvSpPr txBox="1"/>
          <p:nvPr/>
        </p:nvSpPr>
        <p:spPr>
          <a:xfrm>
            <a:off x="10795000" y="6553200"/>
            <a:ext cx="9906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Page 9 / 10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D25E5A7-6DBE-8AE8-A065-8EE8A7717B82}"/>
              </a:ext>
            </a:extLst>
          </p:cNvPr>
          <p:cNvSpPr/>
          <p:nvPr/>
        </p:nvSpPr>
        <p:spPr>
          <a:xfrm>
            <a:off x="685800" y="1320800"/>
            <a:ext cx="50800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C1B0CB-F086-B3AC-674F-FFA3E2CABCE5}"/>
              </a:ext>
            </a:extLst>
          </p:cNvPr>
          <p:cNvSpPr/>
          <p:nvPr/>
        </p:nvSpPr>
        <p:spPr>
          <a:xfrm>
            <a:off x="685800" y="1320800"/>
            <a:ext cx="76200" cy="3632200"/>
          </a:xfrm>
          <a:prstGeom prst="rect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E8E8FE-B106-9CA8-B22A-DE918EA36D06}"/>
              </a:ext>
            </a:extLst>
          </p:cNvPr>
          <p:cNvSpPr txBox="1"/>
          <p:nvPr/>
        </p:nvSpPr>
        <p:spPr>
          <a:xfrm>
            <a:off x="889000" y="1473200"/>
            <a:ext cx="47752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参考资料</a:t>
            </a:r>
            <a:endParaRPr lang="en-US" sz="15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DD4C2-406C-DE83-150F-1ABD5A075034}"/>
              </a:ext>
            </a:extLst>
          </p:cNvPr>
          <p:cNvSpPr txBox="1"/>
          <p:nvPr/>
        </p:nvSpPr>
        <p:spPr>
          <a:xfrm>
            <a:off x="889000" y="1854200"/>
            <a:ext cx="4749800" cy="89768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Automotive SPICE PAM 4.0 Chinese / BGB A-SPICE Guidelines</a:t>
            </a:r>
          </a:p>
          <a:p>
            <a:r>
              <a:rPr 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Helix User Guidelines、Helix ALM REST API Getting Started </a:t>
            </a:r>
            <a:r>
              <a:rPr lang="ja-JP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与示例程序</a:t>
            </a:r>
          </a:p>
          <a:p>
            <a:r>
              <a:rPr lang="en-US" altLang="ja-JP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真实项目 </a:t>
            </a:r>
            <a:r>
              <a:rPr 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</a:t>
            </a:r>
            <a:r>
              <a:rPr lang="ja-JP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审核报告与评估结果样张</a:t>
            </a:r>
          </a:p>
          <a:p>
            <a:r>
              <a:rPr lang="en-US" altLang="ja-JP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上一版 </a:t>
            </a:r>
            <a:r>
              <a:rPr 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aspice-audit-master </a:t>
            </a:r>
            <a:r>
              <a:rPr lang="ja-JP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介绍 </a:t>
            </a:r>
            <a:r>
              <a:rPr 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PPT</a:t>
            </a:r>
          </a:p>
          <a:p>
            <a:r>
              <a:rPr 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Stanley team </a:t>
            </a:r>
            <a:r>
              <a:rPr lang="ja-JP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项目汇报样板的信息排布和工程汇报风格</a:t>
            </a:r>
            <a:endParaRPr lang="en-US" sz="11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C3EC1C-DFF4-7900-B3D9-F1859E5BBFCC}"/>
              </a:ext>
            </a:extLst>
          </p:cNvPr>
          <p:cNvSpPr/>
          <p:nvPr/>
        </p:nvSpPr>
        <p:spPr>
          <a:xfrm>
            <a:off x="6426200" y="1320800"/>
            <a:ext cx="49530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14426A-2664-97A7-6734-DED93B90653F}"/>
              </a:ext>
            </a:extLst>
          </p:cNvPr>
          <p:cNvSpPr/>
          <p:nvPr/>
        </p:nvSpPr>
        <p:spPr>
          <a:xfrm>
            <a:off x="6426200" y="1320800"/>
            <a:ext cx="76200" cy="36322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CB7439-560E-2211-EC58-8921B6C6615B}"/>
              </a:ext>
            </a:extLst>
          </p:cNvPr>
          <p:cNvSpPr txBox="1"/>
          <p:nvPr/>
        </p:nvSpPr>
        <p:spPr>
          <a:xfrm>
            <a:off x="6629400" y="1473200"/>
            <a:ext cx="4648200" cy="28212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zh-CN" altLang="en-US" sz="15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联动验证摘要</a:t>
            </a:r>
            <a:endParaRPr lang="en-US" sz="15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1B55B4-CC5E-E0D8-D273-E4A2CB9DDD6D}"/>
              </a:ext>
            </a:extLst>
          </p:cNvPr>
          <p:cNvSpPr txBox="1"/>
          <p:nvPr/>
        </p:nvSpPr>
        <p:spPr>
          <a:xfrm>
            <a:off x="6629400" y="1854200"/>
            <a:ext cx="4622800" cy="89768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REST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服务入口验证为 </a:t>
            </a:r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/helix-alm/api/v0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</a:t>
            </a:r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HTTPS 8443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可访问</a:t>
            </a:r>
          </a:p>
          <a:p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projects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列表、项目 </a:t>
            </a:r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token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获取、</a:t>
            </a:r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REQ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和 </a:t>
            </a:r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Issues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小样读取已完成</a:t>
            </a:r>
          </a:p>
          <a:p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CEP-LP_XiaoPeng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项目可被识别并作为默认项目示例</a:t>
            </a:r>
          </a:p>
          <a:p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读取上限、类型筛选、搜索表达式和 </a:t>
            </a:r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curl fallback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已接入 </a:t>
            </a:r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Bridge</a:t>
            </a:r>
          </a:p>
          <a:p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不在报告、</a:t>
            </a:r>
            <a:r>
              <a:rPr lang="en-US" altLang="zh-CN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PPT </a:t>
            </a:r>
            <a:r>
              <a:rPr lang="zh-CN" altLang="en-US" sz="11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或导出包中展示任何账号口令</a:t>
            </a:r>
            <a:endParaRPr lang="en-US" sz="11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A2BE090-BFBC-E411-3495-0343DF162AE0}"/>
              </a:ext>
            </a:extLst>
          </p:cNvPr>
          <p:cNvSpPr/>
          <p:nvPr/>
        </p:nvSpPr>
        <p:spPr>
          <a:xfrm>
            <a:off x="1066800" y="5461000"/>
            <a:ext cx="10058400" cy="533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F51D41-B961-FAC7-720E-C754937E069C}"/>
              </a:ext>
            </a:extLst>
          </p:cNvPr>
          <p:cNvSpPr txBox="1"/>
          <p:nvPr/>
        </p:nvSpPr>
        <p:spPr>
          <a:xfrm>
            <a:off x="1295400" y="5600700"/>
            <a:ext cx="9601200" cy="23596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验证结论：当前版本已经具备「本地文件 </a:t>
            </a:r>
            <a:r>
              <a:rPr lang="en-US" altLang="zh-CN" sz="1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 Helix </a:t>
            </a:r>
            <a:r>
              <a:rPr lang="zh-CN" altLang="en-US" sz="1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项目证据 </a:t>
            </a:r>
            <a:r>
              <a:rPr lang="en-US" altLang="zh-CN" sz="1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 Codex </a:t>
            </a:r>
            <a:r>
              <a:rPr lang="zh-CN" altLang="en-US" sz="1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结构化审核 </a:t>
            </a:r>
            <a:r>
              <a:rPr lang="en-US" altLang="zh-CN" sz="1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 PDF </a:t>
            </a:r>
            <a:r>
              <a:rPr lang="zh-CN" altLang="en-US" sz="1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报告」的闭环雏形。</a:t>
            </a:r>
            <a:endParaRPr lang="en-US" sz="12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6646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CEF20F-5C18-C0B9-E56F-478EFFF811D3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903E39-9BC1-D0F6-5551-925BAD3D2FAB}"/>
              </a:ext>
            </a:extLst>
          </p:cNvPr>
          <p:cNvSpPr/>
          <p:nvPr/>
        </p:nvSpPr>
        <p:spPr>
          <a:xfrm>
            <a:off x="0" y="0"/>
            <a:ext cx="203200" cy="812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35774-7FEF-340C-633E-3F986B8B2EC2}"/>
              </a:ext>
            </a:extLst>
          </p:cNvPr>
          <p:cNvSpPr txBox="1"/>
          <p:nvPr/>
        </p:nvSpPr>
        <p:spPr>
          <a:xfrm>
            <a:off x="431800" y="152400"/>
            <a:ext cx="8255000" cy="38985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22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使用方式与交付物</a:t>
            </a:r>
            <a:endParaRPr lang="en-US" sz="22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4121-1D1D-9A1F-E002-DC8EF63DFAEE}"/>
              </a:ext>
            </a:extLst>
          </p:cNvPr>
          <p:cNvSpPr txBox="1"/>
          <p:nvPr/>
        </p:nvSpPr>
        <p:spPr>
          <a:xfrm>
            <a:off x="457200" y="533400"/>
            <a:ext cx="8890000" cy="189796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9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How an auditor uses the upgraded plugin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4DC94-AF66-D87F-D70B-099DD199E98A}"/>
              </a:ext>
            </a:extLst>
          </p:cNvPr>
          <p:cNvSpPr txBox="1"/>
          <p:nvPr/>
        </p:nvSpPr>
        <p:spPr>
          <a:xfrm>
            <a:off x="10363200" y="215900"/>
            <a:ext cx="14732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AI Workbench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50836-0EF0-0021-7E3E-E86A9F118097}"/>
              </a:ext>
            </a:extLst>
          </p:cNvPr>
          <p:cNvSpPr txBox="1"/>
          <p:nvPr/>
        </p:nvSpPr>
        <p:spPr>
          <a:xfrm>
            <a:off x="457200" y="6553200"/>
            <a:ext cx="58420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Confidential | aspice-audit-master Helix linked edition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2A947-00AD-81D5-B089-BC6B85A0A4EE}"/>
              </a:ext>
            </a:extLst>
          </p:cNvPr>
          <p:cNvSpPr txBox="1"/>
          <p:nvPr/>
        </p:nvSpPr>
        <p:spPr>
          <a:xfrm>
            <a:off x="10795000" y="6553200"/>
            <a:ext cx="990600" cy="17440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r"/>
            <a:r>
              <a:rPr lang="en-US" sz="800">
                <a:solidFill>
                  <a:srgbClr val="64748B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Page 10 /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4893DC-6683-1142-D1B6-58F407C9A57B}"/>
              </a:ext>
            </a:extLst>
          </p:cNvPr>
          <p:cNvSpPr txBox="1"/>
          <p:nvPr/>
        </p:nvSpPr>
        <p:spPr>
          <a:xfrm>
            <a:off x="711200" y="1320800"/>
            <a:ext cx="104140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6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推荐使用流程</a:t>
            </a:r>
            <a:endParaRPr lang="en-US" sz="16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5F8B41-863B-F021-8F3B-52B9A613A8E4}"/>
              </a:ext>
            </a:extLst>
          </p:cNvPr>
          <p:cNvSpPr/>
          <p:nvPr/>
        </p:nvSpPr>
        <p:spPr>
          <a:xfrm>
            <a:off x="736600" y="18034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3860CF-7F0A-A962-08A9-FF0EE8E8704E}"/>
              </a:ext>
            </a:extLst>
          </p:cNvPr>
          <p:cNvSpPr/>
          <p:nvPr/>
        </p:nvSpPr>
        <p:spPr>
          <a:xfrm>
            <a:off x="889000" y="1930400"/>
            <a:ext cx="355600" cy="355600"/>
          </a:xfrm>
          <a:prstGeom prst="ellipse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7F57AF-62A0-3532-3212-27DA7C471E8C}"/>
              </a:ext>
            </a:extLst>
          </p:cNvPr>
          <p:cNvSpPr txBox="1"/>
          <p:nvPr/>
        </p:nvSpPr>
        <p:spPr>
          <a:xfrm>
            <a:off x="901700" y="19939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CF0306-C297-60F2-14E8-318E3A6DBDE9}"/>
              </a:ext>
            </a:extLst>
          </p:cNvPr>
          <p:cNvSpPr txBox="1"/>
          <p:nvPr/>
        </p:nvSpPr>
        <p:spPr>
          <a:xfrm>
            <a:off x="1346200" y="19558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登录</a:t>
            </a:r>
            <a:endParaRPr lang="en-US" sz="11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B2CF89-7B97-968E-5A64-B9FD25CBD603}"/>
              </a:ext>
            </a:extLst>
          </p:cNvPr>
          <p:cNvSpPr txBox="1"/>
          <p:nvPr/>
        </p:nvSpPr>
        <p:spPr>
          <a:xfrm>
            <a:off x="914400" y="23622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输入邮箱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密码后进入工作台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2BEF0CC-32BE-A2F7-AE7E-EB701E283E06}"/>
              </a:ext>
            </a:extLst>
          </p:cNvPr>
          <p:cNvCxnSpPr/>
          <p:nvPr/>
        </p:nvCxnSpPr>
        <p:spPr>
          <a:xfrm>
            <a:off x="2311400" y="2387600"/>
            <a:ext cx="3556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4C09B7-F873-9F0B-3559-B3AFF7D007F7}"/>
              </a:ext>
            </a:extLst>
          </p:cNvPr>
          <p:cNvSpPr/>
          <p:nvPr/>
        </p:nvSpPr>
        <p:spPr>
          <a:xfrm>
            <a:off x="2768600" y="18034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A4074F-ADDC-F26A-8EA5-FF0FBB3F57D9}"/>
              </a:ext>
            </a:extLst>
          </p:cNvPr>
          <p:cNvSpPr/>
          <p:nvPr/>
        </p:nvSpPr>
        <p:spPr>
          <a:xfrm>
            <a:off x="2921000" y="1930400"/>
            <a:ext cx="355600" cy="355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EF2153-8CBE-2A66-D601-60858834AA03}"/>
              </a:ext>
            </a:extLst>
          </p:cNvPr>
          <p:cNvSpPr txBox="1"/>
          <p:nvPr/>
        </p:nvSpPr>
        <p:spPr>
          <a:xfrm>
            <a:off x="2933700" y="19939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8E76D6-D1BC-9AFD-605C-172C919A2F3A}"/>
              </a:ext>
            </a:extLst>
          </p:cNvPr>
          <p:cNvSpPr txBox="1"/>
          <p:nvPr/>
        </p:nvSpPr>
        <p:spPr>
          <a:xfrm>
            <a:off x="3378200" y="19558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取证</a:t>
            </a:r>
            <a:endParaRPr lang="en-US" sz="11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ECF3AC-0B2F-35AC-0BA0-D30EA5273311}"/>
              </a:ext>
            </a:extLst>
          </p:cNvPr>
          <p:cNvSpPr txBox="1"/>
          <p:nvPr/>
        </p:nvSpPr>
        <p:spPr>
          <a:xfrm>
            <a:off x="2946400" y="23622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上传本地文件或从 </a:t>
            </a:r>
            <a:r>
              <a:rPr 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ja-JP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选择 </a:t>
            </a:r>
            <a:r>
              <a:rPr 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REQ/RE/TASK/Test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D7E3EBA-E160-4857-52CD-FBC2525E6F2C}"/>
              </a:ext>
            </a:extLst>
          </p:cNvPr>
          <p:cNvCxnSpPr/>
          <p:nvPr/>
        </p:nvCxnSpPr>
        <p:spPr>
          <a:xfrm>
            <a:off x="4343400" y="2387600"/>
            <a:ext cx="3556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D0E3A5-B5C3-C78A-04EE-AAED78C15254}"/>
              </a:ext>
            </a:extLst>
          </p:cNvPr>
          <p:cNvSpPr/>
          <p:nvPr/>
        </p:nvSpPr>
        <p:spPr>
          <a:xfrm>
            <a:off x="4800600" y="18034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EA1A76C-E56A-5F6E-9762-2A0A6B7A9234}"/>
              </a:ext>
            </a:extLst>
          </p:cNvPr>
          <p:cNvSpPr/>
          <p:nvPr/>
        </p:nvSpPr>
        <p:spPr>
          <a:xfrm>
            <a:off x="4953000" y="1930400"/>
            <a:ext cx="355600" cy="3556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4654DC-C170-93D9-BE99-D82D4F21D428}"/>
              </a:ext>
            </a:extLst>
          </p:cNvPr>
          <p:cNvSpPr txBox="1"/>
          <p:nvPr/>
        </p:nvSpPr>
        <p:spPr>
          <a:xfrm>
            <a:off x="4965700" y="19939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37B707-2BAA-4873-A980-8EDCDA51A939}"/>
              </a:ext>
            </a:extLst>
          </p:cNvPr>
          <p:cNvSpPr txBox="1"/>
          <p:nvPr/>
        </p:nvSpPr>
        <p:spPr>
          <a:xfrm>
            <a:off x="5410200" y="19558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锁范围</a:t>
            </a:r>
            <a:endParaRPr lang="en-US" sz="11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5A7D17-B981-3AA6-18B7-CAB3B85D6912}"/>
              </a:ext>
            </a:extLst>
          </p:cNvPr>
          <p:cNvSpPr txBox="1"/>
          <p:nvPr/>
        </p:nvSpPr>
        <p:spPr>
          <a:xfrm>
            <a:off x="4978400" y="23622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勾选主过程域和关联域，补充发现证据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FD69B8-62DE-3B18-E5B5-8CACCA58CA4D}"/>
              </a:ext>
            </a:extLst>
          </p:cNvPr>
          <p:cNvCxnSpPr/>
          <p:nvPr/>
        </p:nvCxnSpPr>
        <p:spPr>
          <a:xfrm>
            <a:off x="6375400" y="2387600"/>
            <a:ext cx="3556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0DB4067-EE75-9D22-A680-234469F27F76}"/>
              </a:ext>
            </a:extLst>
          </p:cNvPr>
          <p:cNvSpPr/>
          <p:nvPr/>
        </p:nvSpPr>
        <p:spPr>
          <a:xfrm>
            <a:off x="6832600" y="18034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84A04F6-BCD0-8665-5110-DAD93DC5DCEB}"/>
              </a:ext>
            </a:extLst>
          </p:cNvPr>
          <p:cNvSpPr/>
          <p:nvPr/>
        </p:nvSpPr>
        <p:spPr>
          <a:xfrm>
            <a:off x="6985000" y="1930400"/>
            <a:ext cx="355600" cy="3556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AFE3E9-D07F-3749-7EF2-175F14DA3131}"/>
              </a:ext>
            </a:extLst>
          </p:cNvPr>
          <p:cNvSpPr txBox="1"/>
          <p:nvPr/>
        </p:nvSpPr>
        <p:spPr>
          <a:xfrm>
            <a:off x="6997700" y="19939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3E6A90-EBC9-4249-CE20-6358F46E3A37}"/>
              </a:ext>
            </a:extLst>
          </p:cNvPr>
          <p:cNvSpPr txBox="1"/>
          <p:nvPr/>
        </p:nvSpPr>
        <p:spPr>
          <a:xfrm>
            <a:off x="7442200" y="19558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生成建议</a:t>
            </a:r>
            <a:endParaRPr lang="en-US" sz="11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212FB6-D1F6-A3E6-4E1E-F31429E25668}"/>
              </a:ext>
            </a:extLst>
          </p:cNvPr>
          <p:cNvSpPr txBox="1"/>
          <p:nvPr/>
        </p:nvSpPr>
        <p:spPr>
          <a:xfrm>
            <a:off x="7010400" y="23622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根据完整证据包输出结构化审核意见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CF6FB49-966F-36FE-0447-3191751E21A0}"/>
              </a:ext>
            </a:extLst>
          </p:cNvPr>
          <p:cNvCxnSpPr/>
          <p:nvPr/>
        </p:nvCxnSpPr>
        <p:spPr>
          <a:xfrm>
            <a:off x="8407400" y="2387600"/>
            <a:ext cx="3556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9F51412-7114-2748-A07D-8CD7179036B7}"/>
              </a:ext>
            </a:extLst>
          </p:cNvPr>
          <p:cNvSpPr/>
          <p:nvPr/>
        </p:nvSpPr>
        <p:spPr>
          <a:xfrm>
            <a:off x="8864600" y="1803400"/>
            <a:ext cx="1524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3027E94-8CEE-F049-8971-28535E66A246}"/>
              </a:ext>
            </a:extLst>
          </p:cNvPr>
          <p:cNvSpPr/>
          <p:nvPr/>
        </p:nvSpPr>
        <p:spPr>
          <a:xfrm>
            <a:off x="9017000" y="1930400"/>
            <a:ext cx="355600" cy="355600"/>
          </a:xfrm>
          <a:prstGeom prst="ellipse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0CEF3F-49DD-692A-22DF-5B9360740797}"/>
              </a:ext>
            </a:extLst>
          </p:cNvPr>
          <p:cNvSpPr txBox="1"/>
          <p:nvPr/>
        </p:nvSpPr>
        <p:spPr>
          <a:xfrm>
            <a:off x="9029700" y="1993900"/>
            <a:ext cx="330200" cy="205184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1C29F1-2979-8CA8-46A6-C5C7BF5124B0}"/>
              </a:ext>
            </a:extLst>
          </p:cNvPr>
          <p:cNvSpPr txBox="1"/>
          <p:nvPr/>
        </p:nvSpPr>
        <p:spPr>
          <a:xfrm>
            <a:off x="9474200" y="1955800"/>
            <a:ext cx="787400" cy="220573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ja-JP" altLang="en-US" sz="11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导出</a:t>
            </a:r>
            <a:endParaRPr lang="en-US" sz="11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BB2549-E3CA-35B0-F32F-EFD4863E5C85}"/>
              </a:ext>
            </a:extLst>
          </p:cNvPr>
          <p:cNvSpPr txBox="1"/>
          <p:nvPr/>
        </p:nvSpPr>
        <p:spPr>
          <a:xfrm>
            <a:off x="9042400" y="2362200"/>
            <a:ext cx="1168400" cy="297517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生成 </a:t>
            </a:r>
            <a:r>
              <a:rPr lang="en-US" altLang="zh-CN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PDF </a:t>
            </a:r>
            <a:r>
              <a:rPr lang="zh-CN" altLang="en-US" sz="8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报告用于评审会和整改跟踪</a:t>
            </a:r>
            <a:endParaRPr lang="en-US" sz="8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0C518BA-B9F4-5A9B-5A0E-D67FFD77F0A9}"/>
              </a:ext>
            </a:extLst>
          </p:cNvPr>
          <p:cNvSpPr/>
          <p:nvPr/>
        </p:nvSpPr>
        <p:spPr>
          <a:xfrm>
            <a:off x="787400" y="3632200"/>
            <a:ext cx="4953000" cy="180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EF14DA5-742D-6E40-22AC-60FB8D604AA3}"/>
              </a:ext>
            </a:extLst>
          </p:cNvPr>
          <p:cNvSpPr/>
          <p:nvPr/>
        </p:nvSpPr>
        <p:spPr>
          <a:xfrm>
            <a:off x="787400" y="3632200"/>
            <a:ext cx="76200" cy="1803400"/>
          </a:xfrm>
          <a:prstGeom prst="rect">
            <a:avLst/>
          </a:prstGeom>
          <a:solidFill>
            <a:srgbClr val="1F5B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600550-F6F0-0EFE-71AF-E7E227B77A02}"/>
              </a:ext>
            </a:extLst>
          </p:cNvPr>
          <p:cNvSpPr txBox="1"/>
          <p:nvPr/>
        </p:nvSpPr>
        <p:spPr>
          <a:xfrm>
            <a:off x="990600" y="3784600"/>
            <a:ext cx="4648200" cy="2667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本次升级交付物</a:t>
            </a:r>
            <a:endParaRPr lang="en-US" sz="14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0BFC1A-30E5-CC1E-4379-18AD8CFF73C0}"/>
              </a:ext>
            </a:extLst>
          </p:cNvPr>
          <p:cNvSpPr txBox="1"/>
          <p:nvPr/>
        </p:nvSpPr>
        <p:spPr>
          <a:xfrm>
            <a:off x="990600" y="4165600"/>
            <a:ext cx="4622800" cy="66684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Edge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插件包：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v1.4.8 helix-home-rest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本地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aspice-codex-bridge.ps1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支持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REST</a:t>
            </a:r>
          </a:p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网页端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Download PDF、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中文</a:t>
            </a:r>
            <a:r>
              <a:rPr lang="en-US" altLang="ja-JP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英文切换、首页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入口</a:t>
            </a:r>
          </a:p>
          <a:p>
            <a:r>
              <a:rPr lang="en-US" altLang="ja-JP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证据会进入证据页、</a:t>
            </a:r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Codex </a:t>
            </a:r>
            <a:r>
              <a:rPr lang="ja-JP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输入包和报告输出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C1C6B06-3850-0958-A60E-7A4709297949}"/>
              </a:ext>
            </a:extLst>
          </p:cNvPr>
          <p:cNvSpPr/>
          <p:nvPr/>
        </p:nvSpPr>
        <p:spPr>
          <a:xfrm>
            <a:off x="6426200" y="3632200"/>
            <a:ext cx="4953000" cy="180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61AC6A-8610-BD3D-E524-297970071CDE}"/>
              </a:ext>
            </a:extLst>
          </p:cNvPr>
          <p:cNvSpPr/>
          <p:nvPr/>
        </p:nvSpPr>
        <p:spPr>
          <a:xfrm>
            <a:off x="6426200" y="3632200"/>
            <a:ext cx="76200" cy="1803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0D95BA-0368-4996-1AF4-12A3B1A42AD2}"/>
              </a:ext>
            </a:extLst>
          </p:cNvPr>
          <p:cNvSpPr txBox="1"/>
          <p:nvPr/>
        </p:nvSpPr>
        <p:spPr>
          <a:xfrm>
            <a:off x="6629400" y="3784600"/>
            <a:ext cx="4648200" cy="2667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下一轮可继续增强</a:t>
            </a:r>
            <a:endParaRPr lang="en-US" sz="14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5AD7D4-EE28-041B-9400-3FF481944C13}"/>
              </a:ext>
            </a:extLst>
          </p:cNvPr>
          <p:cNvSpPr txBox="1"/>
          <p:nvPr/>
        </p:nvSpPr>
        <p:spPr>
          <a:xfrm>
            <a:off x="6629400" y="4165600"/>
            <a:ext cx="4622800" cy="666849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按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VW/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专家样张深化正式报告模板和证据引用格式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补充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Helix dashboard/taskboard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指标卡，形成进度风险视图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增加项目级审计历史、证据采样策略和团队协作权限</a:t>
            </a:r>
          </a:p>
          <a:p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把常见 </a:t>
            </a:r>
            <a:r>
              <a:rPr lang="en-US" altLang="zh-CN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ASPICE </a:t>
            </a:r>
            <a:r>
              <a:rPr lang="zh-CN" altLang="en-US" sz="1000">
                <a:solidFill>
                  <a:srgbClr val="47556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问题点沉淀为可复用知识库规则</a:t>
            </a:r>
            <a:endParaRPr lang="en-US" sz="1000">
              <a:solidFill>
                <a:srgbClr val="47556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C7E7FB-05CA-7401-B217-49870F332790}"/>
              </a:ext>
            </a:extLst>
          </p:cNvPr>
          <p:cNvSpPr txBox="1"/>
          <p:nvPr/>
        </p:nvSpPr>
        <p:spPr>
          <a:xfrm>
            <a:off x="1092200" y="5867400"/>
            <a:ext cx="10007600" cy="2667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A1F44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目标：让审核员更快锁定证据缺口、过程断点和合理评分边界，而不是替代审核员的专业判断。</a:t>
            </a:r>
            <a:endParaRPr lang="en-US" sz="1400" b="1">
              <a:solidFill>
                <a:srgbClr val="0A1F44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9188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2821</Words>
  <Application>Microsoft Office PowerPoint</Application>
  <PresentationFormat>Custom</PresentationFormat>
  <Paragraphs>227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YuMeng Li</dc:creator>
  <cp:lastModifiedBy>YuMeng Li</cp:lastModifiedBy>
  <cp:revision>1</cp:revision>
  <dcterms:created xsi:type="dcterms:W3CDTF">2026-07-22T10:33:01Z</dcterms:created>
  <dcterms:modified xsi:type="dcterms:W3CDTF">2026-07-22T10:33:01Z</dcterms:modified>
</cp:coreProperties>
</file>